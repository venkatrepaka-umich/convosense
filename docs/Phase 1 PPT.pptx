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83f7fb72-1dc8-4701-d5c7-f1a11910648c}">
          <p14:sldIdLst>
            <p14:sldId id="256"/>
          </p14:sldIdLst>
        </p14:section>
        <p14:section name="Task" id="{4fde74fe-37dd-8fb1-4949-503a617204ad}">
          <p14:sldIdLst>
            <p14:sldId id="257"/>
          </p14:sldIdLst>
        </p14:section>
        <p14:section name="Importance" id="{4d45fb10-22d9-a462-6b37-e531f584638b}">
          <p14:sldIdLst>
            <p14:sldId id="258"/>
          </p14:sldIdLst>
        </p14:section>
        <p14:section name="Dataset" id="{b3f0d00e-f6e8-cd0b-a47d-4a3464dd9d18}">
          <p14:sldIdLst>
            <p14:sldId id="259"/>
          </p14:sldIdLst>
        </p14:section>
        <p14:section name="Pipeline" id="{82b0435e-0f7f-4b03-f4db-ea6e78f03d89}">
          <p14:sldIdLst>
            <p14:sldId id="260"/>
          </p14:sldIdLst>
        </p14:section>
        <p14:section name="Annotation" id="{3d0569d9-14d8-19f0-3ecb-2c7b029f7f9e}">
          <p14:sldIdLst>
            <p14:sldId id="261"/>
          </p14:sldIdLst>
        </p14:section>
        <p14:section name="Demo" id="{15da22dd-ebf7-93f3-a812-6d513a7810e2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Conversations</c:v>
                </c:pt>
              </c:strCache>
            </c:strRef>
          </c:tx>
          <c:spPr>
            <a:solidFill>
              <a:srgbClr val="0000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Grouped threads</c:v>
                  </c:pt>
                  <c:pt idx="1">
                    <c:v>Sequenced</c:v>
                  </c:pt>
                  <c:pt idx="2">
                    <c:v>English / Spanish only</c:v>
                  </c:pt>
                  <c:pt idx="3">
                    <c:v>Multi-turn (final)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82534</c:v>
                </c:pt>
                <c:pt idx="1">
                  <c:v>82408</c:v>
                </c:pt>
                <c:pt idx="2">
                  <c:v>60601</c:v>
                </c:pt>
                <c:pt idx="3">
                  <c:v>25421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333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0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3333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Conversations</c:v>
                </c:pt>
              </c:strCache>
            </c:strRef>
          </c:tx>
          <c:spPr>
            <a:solidFill>
              <a:srgbClr val="0000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4</c:v>
                  </c:pt>
                  <c:pt idx="1">
                    <c:v>5</c:v>
                  </c:pt>
                  <c:pt idx="2">
                    <c:v>6</c:v>
                  </c:pt>
                  <c:pt idx="3">
                    <c:v>7</c:v>
                  </c:pt>
                  <c:pt idx="4">
                    <c:v>8</c:v>
                  </c:pt>
                  <c:pt idx="5">
                    <c:v>9-10</c:v>
                  </c:pt>
                  <c:pt idx="6">
                    <c:v>11+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8344</c:v>
                </c:pt>
                <c:pt idx="1">
                  <c:v>4182</c:v>
                </c:pt>
                <c:pt idx="2">
                  <c:v>4084</c:v>
                </c:pt>
                <c:pt idx="3">
                  <c:v>2206</c:v>
                </c:pt>
                <c:pt idx="4">
                  <c:v>1830</c:v>
                </c:pt>
                <c:pt idx="5">
                  <c:v>2017</c:v>
                </c:pt>
                <c:pt idx="6">
                  <c:v>2758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333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3333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team and the task: classifying the tone of customer messages in support conversations.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labels from calm and positive to angry and demanding. The label is the customer's tone at the end of the conversation. Example: the customer waits two weeks and demands a fix, so Escalatory.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reasons: urgency, agent performance, retention and public reputation, and system problems. Mention that tone also depends on context (sarcasm), so human judgment is needed.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Source, brand choice, license. 2.8M raw tweets reduce to 25,421 Amazon conversations. The 30-45 second time per item is an estimate until we time ourselves.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Funnel: we keep only conversations in which both customer and agent speak at least twice, so tone can develop. Right: most conversations have 4 to 6 turns, average 6.7, about 153 words.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redundancy versus coverage choice: 20 conversations labeled by all six, 10 by pairs, 5 by triples, and 65 unique per batch. Annotators run Potato locally and send back annotation_output.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the browser: show a conversation, the five labels, the optional secondary label, and the guidelines panel.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828800"/>
            <a:ext cx="1051560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411480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ConvoSense  |  ARI 410/510  |  Phase 1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82880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Customer Service Message Tone Classification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411480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000" dirty="0">
                <a:solidFill>
                  <a:schemeClr val="bg1"/>
                </a:solidFill>
              </a:rPr>
              <a:t>ARI 410/510  |  Project Phase 1: Task and Annotation Setup</a:t>
            </a:r>
            <a:endParaRPr lang="en-US" sz="20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000" dirty="0">
                <a:solidFill>
                  <a:schemeClr val="accent4"/>
                </a:solidFill>
              </a:rPr>
              <a:t>Venkat  |  Vishnu  |  Roshkrishna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tx1"/>
                </a:solidFill>
              </a:rPr>
              <a:t>The Task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 customer-support conversation and label the customer's tone, based on how the customer ends the conversation.</a:t>
            </a:r>
            <a:endParaRPr lang="en-US" sz="1800" dirty="0"/>
          </a:p>
        </p:txBody>
      </p:sp>
      <p:sp>
        <p:nvSpPr>
          <p:cNvPr id="4" name="Label 1"/>
          <p:cNvSpPr/>
          <p:nvPr/>
        </p:nvSpPr>
        <p:spPr>
          <a:xfrm>
            <a:off x="548640" y="1965960"/>
            <a:ext cx="2103120" cy="1325880"/>
          </a:xfrm>
          <a:prstGeom prst="rect">
            <a:avLst/>
          </a:prstGeom>
          <a:solidFill>
            <a:schemeClr val="bg2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057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Appreciative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56032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Thanks, praise, satisfaction</a:t>
            </a:r>
            <a:endParaRPr lang="en-US" sz="1400" dirty="0"/>
          </a:p>
        </p:txBody>
      </p:sp>
      <p:sp>
        <p:nvSpPr>
          <p:cNvPr id="7" name="Label 2"/>
          <p:cNvSpPr/>
          <p:nvPr/>
        </p:nvSpPr>
        <p:spPr>
          <a:xfrm>
            <a:off x="2788920" y="1965960"/>
            <a:ext cx="2103120" cy="1325880"/>
          </a:xfrm>
          <a:prstGeom prst="rect">
            <a:avLst/>
          </a:prstGeom>
          <a:solidFill>
            <a:schemeClr val="bg2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26080" y="2057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Neutral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2926080" y="256032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 and details, no emotion</a:t>
            </a:r>
            <a:endParaRPr lang="en-US" sz="1400" dirty="0"/>
          </a:p>
        </p:txBody>
      </p:sp>
      <p:sp>
        <p:nvSpPr>
          <p:cNvPr id="10" name="Label 3"/>
          <p:cNvSpPr/>
          <p:nvPr/>
        </p:nvSpPr>
        <p:spPr>
          <a:xfrm>
            <a:off x="5029200" y="1965960"/>
            <a:ext cx="2103120" cy="1325880"/>
          </a:xfrm>
          <a:prstGeom prst="rect">
            <a:avLst/>
          </a:prstGeom>
          <a:solidFill>
            <a:schemeClr val="bg2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166360" y="2057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Help-seeking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166360" y="256032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Asks a question or for help</a:t>
            </a:r>
            <a:endParaRPr lang="en-US" sz="1400" dirty="0"/>
          </a:p>
        </p:txBody>
      </p:sp>
      <p:sp>
        <p:nvSpPr>
          <p:cNvPr id="13" name="Label 4"/>
          <p:cNvSpPr/>
          <p:nvPr/>
        </p:nvSpPr>
        <p:spPr>
          <a:xfrm>
            <a:off x="7269480" y="1965960"/>
            <a:ext cx="2103120" cy="1325880"/>
          </a:xfrm>
          <a:prstGeom prst="rect">
            <a:avLst/>
          </a:prstGeom>
          <a:solidFill>
            <a:schemeClr val="bg2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406640" y="2057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Frustrated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406640" y="256032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Complains, shows displeasure</a:t>
            </a:r>
            <a:endParaRPr lang="en-US" sz="1400" dirty="0"/>
          </a:p>
        </p:txBody>
      </p:sp>
      <p:sp>
        <p:nvSpPr>
          <p:cNvPr id="16" name="Label 5"/>
          <p:cNvSpPr/>
          <p:nvPr/>
        </p:nvSpPr>
        <p:spPr>
          <a:xfrm>
            <a:off x="9509760" y="1965960"/>
            <a:ext cx="2103120" cy="132588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46920" y="2057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 Escalatory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9646920" y="256032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Demands immediate resolution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611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Example data point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069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</a:t>
            </a:r>
            <a:endParaRPr lang="en-US" sz="1200" dirty="0"/>
          </a:p>
        </p:txBody>
      </p:sp>
      <p:sp>
        <p:nvSpPr>
          <p:cNvPr id="21" name="Support bubble"/>
          <p:cNvSpPr/>
          <p:nvPr/>
        </p:nvSpPr>
        <p:spPr>
          <a:xfrm>
            <a:off x="548640" y="4343400"/>
            <a:ext cx="5120640" cy="548640"/>
          </a:xfrm>
          <a:prstGeom prst="roundRect">
            <a:avLst>
              <a:gd name="adj" fmla="val 20000"/>
            </a:avLst>
          </a:prstGeom>
          <a:solidFill>
            <a:schemeClr val="bg2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520" y="434340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refund request has been submitted.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0" y="50292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1200" dirty="0"/>
          </a:p>
        </p:txBody>
      </p:sp>
      <p:sp>
        <p:nvSpPr>
          <p:cNvPr id="24" name="Customer bubble"/>
          <p:cNvSpPr/>
          <p:nvPr/>
        </p:nvSpPr>
        <p:spPr>
          <a:xfrm>
            <a:off x="5669280" y="5303520"/>
            <a:ext cx="5943600" cy="822960"/>
          </a:xfrm>
          <a:prstGeom prst="roundRect">
            <a:avLst>
              <a:gd name="adj" fmla="val 13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852160" y="5303520"/>
            <a:ext cx="5577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have been waiting two weeks for my refund. Please fix this immediately.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539496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Label: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Escalatory or requesting immediate resolution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tx1"/>
                </a:solidFill>
              </a:rPr>
              <a:t>Why It Matters</a:t>
            </a:r>
            <a:endParaRPr lang="en-US" sz="3800" dirty="0"/>
          </a:p>
        </p:txBody>
      </p:sp>
      <p:sp>
        <p:nvSpPr>
          <p:cNvPr id="3" name="Card 1"/>
          <p:cNvSpPr/>
          <p:nvPr/>
        </p:nvSpPr>
        <p:spPr>
          <a:xfrm>
            <a:off x="548640" y="1508760"/>
            <a:ext cx="5440680" cy="21488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Icon circle 1"/>
          <p:cNvSpPr/>
          <p:nvPr/>
        </p:nvSpPr>
        <p:spPr>
          <a:xfrm>
            <a:off x="822960" y="1783080"/>
            <a:ext cx="731520" cy="73152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5" name="Image 0" descr="Spot urgency ear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96596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1737360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Spot urgency early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65176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a calm question from an angry customer, so frustrated and escalatory messages reach the front of the queue.</a:t>
            </a:r>
            <a:endParaRPr lang="en-US" sz="1400" dirty="0"/>
          </a:p>
        </p:txBody>
      </p:sp>
      <p:sp>
        <p:nvSpPr>
          <p:cNvPr id="8" name="Card 2"/>
          <p:cNvSpPr/>
          <p:nvPr/>
        </p:nvSpPr>
        <p:spPr>
          <a:xfrm>
            <a:off x="6172200" y="1508760"/>
            <a:ext cx="5440680" cy="21488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Icon circle 2"/>
          <p:cNvSpPr/>
          <p:nvPr/>
        </p:nvSpPr>
        <p:spPr>
          <a:xfrm>
            <a:off x="6446520" y="1783080"/>
            <a:ext cx="731520" cy="73152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0" name="Image 1" descr="Measure how messages are handle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96596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406640" y="1737360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 how messages are handled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6446520" y="265176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whether agent replies calm customers down or make things worse, and coach the team with real examples.</a:t>
            </a:r>
            <a:endParaRPr lang="en-US" sz="1400" dirty="0"/>
          </a:p>
        </p:txBody>
      </p:sp>
      <p:sp>
        <p:nvSpPr>
          <p:cNvPr id="13" name="Card 3"/>
          <p:cNvSpPr/>
          <p:nvPr/>
        </p:nvSpPr>
        <p:spPr>
          <a:xfrm>
            <a:off x="548640" y="3886200"/>
            <a:ext cx="5440680" cy="21488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Icon circle 3"/>
          <p:cNvSpPr/>
          <p:nvPr/>
        </p:nvSpPr>
        <p:spPr>
          <a:xfrm>
            <a:off x="822960" y="4160520"/>
            <a:ext cx="731520" cy="73152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5" name="Image 2" descr="Retain customers, protect reputati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434340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783080" y="4114800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Retain customers, protect reputation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22960" y="502920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a customer is the hardest part in a competitive market. Twitter support is public, so poor responses are visible to everyone.</a:t>
            </a:r>
            <a:endParaRPr lang="en-US" sz="1400" dirty="0"/>
          </a:p>
        </p:txBody>
      </p:sp>
      <p:sp>
        <p:nvSpPr>
          <p:cNvPr id="18" name="Card 4"/>
          <p:cNvSpPr/>
          <p:nvPr/>
        </p:nvSpPr>
        <p:spPr>
          <a:xfrm>
            <a:off x="6172200" y="3886200"/>
            <a:ext cx="5440680" cy="21488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Icon circle 4"/>
          <p:cNvSpPr/>
          <p:nvPr/>
        </p:nvSpPr>
        <p:spPr>
          <a:xfrm>
            <a:off x="6446520" y="4160520"/>
            <a:ext cx="731520" cy="73152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20" name="Image 3" descr="Reveal system problem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4343400"/>
            <a:ext cx="365760" cy="3657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406640" y="4114800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Reveal system problems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6446520" y="502920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frustrated messages about the same issue, such as late deliveries or refunds, can point to a system or process fault.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tx1"/>
                </a:solidFill>
              </a:rPr>
              <a:t>The Dataset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2011680" y="146304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Support on Twitter (TWCS, Kaggle): 2,811,774 tweets from 108 brands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4028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Brand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011680" y="224028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AmazonHelp, so every annotator sees the same kind of problems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01752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 span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2011680" y="301752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Mostly 2017-10-03 to 2017-12-03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79476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Instance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2011680" y="379476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customer-support conversation, written as [customer] / [agent] turns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57200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Language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2011680" y="457200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kept; Spanish translated to English; other languages dropped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34924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License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011680" y="534924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 BY-NC-SA 4.0 (non-commercial, academic use)</a:t>
            </a:r>
            <a:endParaRPr lang="en-US" sz="1500" dirty="0"/>
          </a:p>
        </p:txBody>
      </p:sp>
      <p:sp>
        <p:nvSpPr>
          <p:cNvPr id="15" name="Stat 1"/>
          <p:cNvSpPr/>
          <p:nvPr/>
        </p:nvSpPr>
        <p:spPr>
          <a:xfrm>
            <a:off x="6858000" y="1508760"/>
            <a:ext cx="2331720" cy="21031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040880" y="1783080"/>
            <a:ext cx="1965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2.8M</a:t>
            </a:r>
            <a:endParaRPr lang="en-US" sz="4000" dirty="0"/>
          </a:p>
        </p:txBody>
      </p:sp>
      <p:sp>
        <p:nvSpPr>
          <p:cNvPr id="17" name="Text 15"/>
          <p:cNvSpPr txBox="1"/>
          <p:nvPr/>
        </p:nvSpPr>
        <p:spPr>
          <a:xfrm>
            <a:off x="7040880" y="274320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tweets</a:t>
            </a:r>
            <a:endParaRPr lang="en-US" sz="1400" dirty="0"/>
          </a:p>
        </p:txBody>
      </p:sp>
      <p:sp>
        <p:nvSpPr>
          <p:cNvPr id="18" name="Stat 2"/>
          <p:cNvSpPr/>
          <p:nvPr/>
        </p:nvSpPr>
        <p:spPr>
          <a:xfrm>
            <a:off x="9418320" y="1508760"/>
            <a:ext cx="2331720" cy="21031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601200" y="1783080"/>
            <a:ext cx="1965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25,421</a:t>
            </a:r>
            <a:endParaRPr lang="en-US" sz="4000" dirty="0"/>
          </a:p>
        </p:txBody>
      </p:sp>
      <p:sp>
        <p:nvSpPr>
          <p:cNvPr id="20" name="Text 18"/>
          <p:cNvSpPr txBox="1"/>
          <p:nvPr/>
        </p:nvSpPr>
        <p:spPr>
          <a:xfrm>
            <a:off x="9601200" y="274320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conversations</a:t>
            </a:r>
            <a:endParaRPr lang="en-US" sz="1400" dirty="0"/>
          </a:p>
        </p:txBody>
      </p:sp>
      <p:sp>
        <p:nvSpPr>
          <p:cNvPr id="21" name="Stat 3"/>
          <p:cNvSpPr/>
          <p:nvPr/>
        </p:nvSpPr>
        <p:spPr>
          <a:xfrm>
            <a:off x="6858000" y="3840480"/>
            <a:ext cx="2331720" cy="21031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040880" y="4114800"/>
            <a:ext cx="1965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6.7</a:t>
            </a:r>
            <a:endParaRPr lang="en-US" sz="4000" dirty="0"/>
          </a:p>
        </p:txBody>
      </p:sp>
      <p:sp>
        <p:nvSpPr>
          <p:cNvPr id="23" name="Text 21"/>
          <p:cNvSpPr txBox="1"/>
          <p:nvPr/>
        </p:nvSpPr>
        <p:spPr>
          <a:xfrm>
            <a:off x="7040880" y="507492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turns per conversation</a:t>
            </a:r>
            <a:endParaRPr lang="en-US" sz="1400" dirty="0"/>
          </a:p>
        </p:txBody>
      </p:sp>
      <p:sp>
        <p:nvSpPr>
          <p:cNvPr id="24" name="Stat 4"/>
          <p:cNvSpPr/>
          <p:nvPr/>
        </p:nvSpPr>
        <p:spPr>
          <a:xfrm>
            <a:off x="9418320" y="3840480"/>
            <a:ext cx="2331720" cy="21031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601200" y="4114800"/>
            <a:ext cx="1965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30-45 s</a:t>
            </a:r>
            <a:endParaRPr lang="en-US" sz="4000" dirty="0"/>
          </a:p>
        </p:txBody>
      </p:sp>
      <p:sp>
        <p:nvSpPr>
          <p:cNvPr id="26" name="Text 24"/>
          <p:cNvSpPr txBox="1"/>
          <p:nvPr/>
        </p:nvSpPr>
        <p:spPr>
          <a:xfrm>
            <a:off x="9601200" y="507492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time to label one item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tx1"/>
                </a:solidFill>
              </a:rPr>
              <a:t>From Raw Tweets to Final Data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threads  &gt;  Sequence turns  &gt;  English plus translated Spanish  &gt;  Multi-turn only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AmazonHelp conversations after each step</a:t>
            </a:r>
            <a:endParaRPr lang="en-US" sz="18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194560"/>
          <a:ext cx="548640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0" y="178308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Conversations by number of turns</a:t>
            </a:r>
            <a:endParaRPr lang="en-US" sz="1800" dirty="0"/>
          </a:p>
        </p:txBody>
      </p:sp>
      <p:graphicFrame>
        <p:nvGraphicFramePr>
          <p:cNvPr id="7" name="Chart 1" descr=""/>
          <p:cNvGraphicFramePr/>
          <p:nvPr/>
        </p:nvGraphicFramePr>
        <p:xfrm>
          <a:off x="6400800" y="2194560"/>
          <a:ext cx="521208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tx1"/>
                </a:solidFill>
              </a:rPr>
              <a:t>Annotation Guidelines and Setup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Guidelines for annotators</a:t>
            </a:r>
            <a:endParaRPr lang="en-US" sz="2000" dirty="0"/>
          </a:p>
        </p:txBody>
      </p:sp>
      <p:sp>
        <p:nvSpPr>
          <p:cNvPr id="4" name="Rule number 1"/>
          <p:cNvSpPr/>
          <p:nvPr/>
        </p:nvSpPr>
        <p:spPr>
          <a:xfrm>
            <a:off x="548640" y="1920240"/>
            <a:ext cx="457200" cy="45720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87452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whole conversation first; agent replies are context.</a:t>
            </a:r>
            <a:endParaRPr lang="en-US" sz="1500" dirty="0"/>
          </a:p>
        </p:txBody>
      </p:sp>
      <p:sp>
        <p:nvSpPr>
          <p:cNvPr id="7" name="Rule number 2"/>
          <p:cNvSpPr/>
          <p:nvPr/>
        </p:nvSpPr>
        <p:spPr>
          <a:xfrm>
            <a:off x="548640" y="2743200"/>
            <a:ext cx="457200" cy="45720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69748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the customer's words only, not the agent or the outcome.</a:t>
            </a:r>
            <a:endParaRPr lang="en-US" sz="1500" dirty="0"/>
          </a:p>
        </p:txBody>
      </p:sp>
      <p:sp>
        <p:nvSpPr>
          <p:cNvPr id="10" name="Rule number 3"/>
          <p:cNvSpPr/>
          <p:nvPr/>
        </p:nvSpPr>
        <p:spPr>
          <a:xfrm>
            <a:off x="548640" y="3566160"/>
            <a:ext cx="457200" cy="45720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352044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the tone the customer ends on.</a:t>
            </a:r>
            <a:endParaRPr lang="en-US" sz="1500" dirty="0"/>
          </a:p>
        </p:txBody>
      </p:sp>
      <p:sp>
        <p:nvSpPr>
          <p:cNvPr id="13" name="Rule number 4"/>
          <p:cNvSpPr/>
          <p:nvPr/>
        </p:nvSpPr>
        <p:spPr>
          <a:xfrm>
            <a:off x="548640" y="4389120"/>
            <a:ext cx="457200" cy="45720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389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434340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tones mix, use this order: Escalatory, Frustrated, Help-seeking, Appreciative, Neutral.</a:t>
            </a:r>
            <a:endParaRPr lang="en-US" sz="1500" dirty="0"/>
          </a:p>
        </p:txBody>
      </p:sp>
      <p:sp>
        <p:nvSpPr>
          <p:cNvPr id="16" name="Rule number 5"/>
          <p:cNvSpPr/>
          <p:nvPr/>
        </p:nvSpPr>
        <p:spPr>
          <a:xfrm>
            <a:off x="548640" y="5212080"/>
            <a:ext cx="457200" cy="45720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5212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51663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secondary label for difficult cases.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1371600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Interface and agreement design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0" y="1828800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Potato runs locally. 6 annotators, 2 batches of 100 conversations each.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2560320"/>
          <a:ext cx="521208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371600"/>
                <a:gridCol w="22860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batch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Labeled by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annotator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annotators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Triple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annotators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Unique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annotator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Text 19"/>
          <p:cNvSpPr txBox="1"/>
          <p:nvPr/>
        </p:nvSpPr>
        <p:spPr>
          <a:xfrm>
            <a:off x="6400800" y="5029200"/>
            <a:ext cx="5212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sets give agreement and majority-vote labels. Unique items give coverage: about 450 different conversations per batch round.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Live Demo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Annotation interface (Potato)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11680"/>
            <a:ext cx="3840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conversation at a time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primary tone label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secondary label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Saves automatically; structured output file</a:t>
            </a:r>
            <a:endParaRPr lang="en-US" sz="1800" dirty="0"/>
          </a:p>
        </p:txBody>
      </p:sp>
      <p:sp>
        <p:nvSpPr>
          <p:cNvPr id="5" name="Screenshot placeholder"/>
          <p:cNvSpPr/>
          <p:nvPr/>
        </p:nvSpPr>
        <p:spPr>
          <a:xfrm>
            <a:off x="4754880" y="1371600"/>
            <a:ext cx="6858000" cy="4572000"/>
          </a:xfrm>
          <a:prstGeom prst="rect">
            <a:avLst/>
          </a:prstGeom>
          <a:solidFill>
            <a:schemeClr val="tx2"/>
          </a:solidFill>
          <a:ln w="19050">
            <a:solidFill>
              <a:schemeClr val="accent3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4937760" y="1371600"/>
            <a:ext cx="649224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 placeholder: Potato annotation page (backup for the live demo)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nvoSense Mono">
  <a:themeElements>
    <a:clrScheme name="ConvoSense Mono">
      <a:dk1>
        <a:srgbClr val="000000"/>
      </a:dk1>
      <a:lt1>
        <a:srgbClr val="FFFFFF"/>
      </a:lt1>
      <a:dk2>
        <a:srgbClr val="333333"/>
      </a:dk2>
      <a:lt2>
        <a:srgbClr val="F2F2F2"/>
      </a:lt2>
      <a:accent1>
        <a:srgbClr val="000000"/>
      </a:accent1>
      <a:accent2>
        <a:srgbClr val="555555"/>
      </a:accent2>
      <a:accent3>
        <a:srgbClr val="888888"/>
      </a:accent3>
      <a:accent4>
        <a:srgbClr val="BBBBBB"/>
      </a:accent4>
      <a:accent5>
        <a:srgbClr val="DDDDDD"/>
      </a:accent5>
      <a:accent6>
        <a:srgbClr val="222222"/>
      </a:accent6>
      <a:hlink>
        <a:srgbClr val="000000"/>
      </a:hlink>
      <a:folHlink>
        <a:srgbClr val="555555"/>
      </a:folHlink>
    </a:clrScheme>
    <a:fontScheme name="ConvoSense Mon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Customer Service Message Tone Classification</dc:title>
  <dc:subject>PptxGenJS Presentation</dc:subject>
  <dc:creator>Venkat, Vishnu, Roshkrishna</dc:creator>
  <cp:lastModifiedBy>Venkat, Vishnu, Roshkrishna</cp:lastModifiedBy>
  <cp:revision>1</cp:revision>
  <dcterms:created xsi:type="dcterms:W3CDTF">2026-10-05T03:18:36Z</dcterms:created>
  <dcterms:modified xsi:type="dcterms:W3CDTF">2026-10-05T03:18:36Z</dcterms:modified>
</cp:coreProperties>
</file>