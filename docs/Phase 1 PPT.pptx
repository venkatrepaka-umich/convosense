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63" r:id="rId3"/>
    <p:sldId id="257" r:id="rId4"/>
    <p:sldId id="258" r:id="rId5"/>
    <p:sldId id="259" r:id="rId6"/>
    <p:sldId id="260" r:id="rId7"/>
    <p:sldId id="261" r:id="rId8"/>
    <p:sldId id="262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7FD77BD4-1D56-058E-8629-644317F7E4A7}">
          <p14:sldIdLst>
            <p14:sldId id="256"/>
          </p14:sldIdLst>
        </p14:section>
        <p14:section name="Task" id="{71CB0385-5FAD-D8E9-E94D-89D47F49DF25}">
          <p14:sldIdLst>
            <p14:sldId id="263"/>
            <p14:sldId id="257"/>
            <p14:sldId id="258"/>
            <p14:sldId id="259"/>
            <p14:sldId id="260"/>
            <p14:sldId id="261"/>
            <p14:sldId id="262"/>
          </p14:sldIdLst>
        </p14:section>
        <p14:section name="Importance" id="{82E2DEE0-F411-7224-5BF0-372FFA728696}">
          <p14:sldIdLst/>
        </p14:section>
        <p14:section name="Dataset" id="{C2D623B9-CF2A-ED04-6DF7-24C7C5BE7D20}">
          <p14:sldIdLst>
            <p14:sldId id="264"/>
          </p14:sldIdLst>
        </p14:section>
        <p14:section name="Pipeline" id="{6EA1C8A7-B1CF-01DF-C85A-0ED5CFBAD8C0}">
          <p14:sldIdLst>
            <p14:sldId id="265"/>
          </p14:sldIdLst>
        </p14:section>
        <p14:section name="Annotation" id="{AF4294F4-8611-6D8E-612F-2790F13C589B}">
          <p14:sldIdLst>
            <p14:sldId id="266"/>
          </p14:sldIdLst>
        </p14:section>
        <p14:section name="Demo" id="{7DC36C1D-492E-41C4-3C6A-53C932A73C11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58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Conversations</c:v>
                </c:pt>
              </c:strCache>
            </c:strRef>
          </c:tx>
          <c:spPr>
            <a:solidFill>
              <a:srgbClr val="00000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0" i="0" u="none" strike="noStrike">
                    <a:solidFill>
                      <a:srgbClr val="000000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Grouped threads</c:v>
                </c:pt>
                <c:pt idx="1">
                  <c:v>Sequenced</c:v>
                </c:pt>
                <c:pt idx="2">
                  <c:v>English / Spanish only</c:v>
                </c:pt>
                <c:pt idx="3">
                  <c:v>Multi-turn (final)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82534</c:v>
                </c:pt>
                <c:pt idx="1">
                  <c:v>82408</c:v>
                </c:pt>
                <c:pt idx="2">
                  <c:v>60601</c:v>
                </c:pt>
                <c:pt idx="3">
                  <c:v>25421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832-1C4D-A700-4AC16D246DA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333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000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Conversations</c:v>
                </c:pt>
              </c:strCache>
            </c:strRef>
          </c:tx>
          <c:spPr>
            <a:solidFill>
              <a:srgbClr val="00000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0" i="0" u="none" strike="noStrike">
                    <a:solidFill>
                      <a:srgbClr val="000000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4</c:v>
                </c:pt>
                <c:pt idx="1">
                  <c:v>5</c:v>
                </c:pt>
                <c:pt idx="2">
                  <c:v>6</c:v>
                </c:pt>
                <c:pt idx="3">
                  <c:v>7</c:v>
                </c:pt>
                <c:pt idx="4">
                  <c:v>8</c:v>
                </c:pt>
                <c:pt idx="5">
                  <c:v>9-10</c:v>
                </c:pt>
                <c:pt idx="6">
                  <c:v>11+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8344</c:v>
                </c:pt>
                <c:pt idx="1">
                  <c:v>4182</c:v>
                </c:pt>
                <c:pt idx="2">
                  <c:v>4084</c:v>
                </c:pt>
                <c:pt idx="3">
                  <c:v>2206</c:v>
                </c:pt>
                <c:pt idx="4">
                  <c:v>1830</c:v>
                </c:pt>
                <c:pt idx="5">
                  <c:v>2017</c:v>
                </c:pt>
                <c:pt idx="6">
                  <c:v>2758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E5C-5443-BAC6-9689176B3A8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333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0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298806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team and the task: classifying the tone of customer messages in support conversations.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Companies get thousands of support messages a day. Tone tells us how the customer is reacting to the help they get.</a:t>
            </a:r>
          </a:p>
          <a:p>
            <a:r>
              <a:rPr lang="en-US" dirty="0"/>
              <a:t>Spot customers who need attention: frustrated or escalating customers can be flagged so a person looks at them sooner. Tone is one signal, next to what the customer actually needs.</a:t>
            </a:r>
          </a:p>
          <a:p>
            <a:r>
              <a:rPr lang="en-US" dirty="0"/>
              <a:t>Help write better replies: an upset customer should not get a cheerful script. Tone helps pick the right words, or decide to bring in a human.</a:t>
            </a:r>
          </a:p>
          <a:p>
            <a:r>
              <a:rPr lang="en-US" dirty="0"/>
              <a:t>Find repeated problems: if many people are upset about refunds in the same week, that points to something worth looking into.</a:t>
            </a:r>
          </a:p>
          <a:p>
            <a:r>
              <a:rPr lang="en-US" dirty="0"/>
              <a:t>New labels for a hard problem: the 2.8 million tweets have no tone labels. Our annotators, you, create them.</a:t>
            </a:r>
          </a:p>
          <a:p>
            <a:r>
              <a:rPr lang="en-US" dirty="0"/>
              <a:t>And it is not easy: “Thanks a lot” after a useless reply is sarcasm, not praise. That is why you read the whole conversation.</a:t>
            </a:r>
          </a:p>
          <a:p>
            <a:r>
              <a:rPr lang="en-US" dirty="0"/>
              <a:t>Takeaway: reading tone correctly helps a company respond to the right customer, in the right way.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labels from calm and positive to angry and demanding. The label is the customer's overall tone across the whole conversation; the last message does not take priority. If tones mix, use the order shown on the slide. Next five slides: one real example per label.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Click once to show the whole conversation, then once more to show the guide panel. 1. Appreciative or positive: The customer expresses enthusiasm in both messages, praising the movie and saying “Awesome thanks”. They ask for nothing, so the exchange supports an Appreciative label.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Click once to show the whole conversation, then once more to show the guide panel. 2. Neutral or informational: Both customer messages are plain statements of fact. There are no emotion words, no question marks and no demands, even though a delivery is late.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Click once to show the whole conversation, then once more to show the guide panel. 3. Help-seeking or asking a question: The customer describes a technical problem, asks for suggestions, then asks a genuine follow-up question. The tone is friendly and cooperative, with no blame.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Click once to show the whole conversation, then once more to show the guide panel. 4. Frustrated or complaining: The customer criticizes a service gap with a sarcastic, rhetorical question and the word "lame". Nothing is demanded and nothing is threatened.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Click once to show the whole conversation, then once more to show the guide panel. 5. Escalatory or requesting immediate resolution: The customer asks for a manager to call, says they need a human after generic replies, and asks whether they must file a lawsuit. That is a demand plus a threat.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Source, brand choice, license. 2.8M raw tweets reduce to 25,421 Amazon conversations. The 30-45 second time per item is an estimate until we time ourselves.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Funnel: we keep only conversations in which both customer and agent speak at least twice, so tone can develop. Right: most conversations have 4 to 6 turns, average 6.7, about 153 words.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redundancy versus coverage choice: 20 conversations labeled by all six, 10 by pairs, 5 by triples, and 65 unique per batch. Annotators run Potato locally and send back annotation_output.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Switch to the browser: show a conversation, the five labels, the optional secondary label, and the guidelines panel.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1828800"/>
            <a:ext cx="1051560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54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54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822960" y="4114800"/>
            <a:ext cx="1051560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000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8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38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ConvoSense  |  ARI 410/510  |  Phase 1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800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chart" Target="../charts/chart1.xml"/><Relationship Id="rId4" Type="http://schemas.openxmlformats.org/officeDocument/2006/relationships/chart" Target="../charts/char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1828800"/>
            <a:ext cx="10515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5400" b="1" dirty="0">
                <a:solidFill>
                  <a:schemeClr val="bg1"/>
                </a:solidFill>
              </a:rPr>
              <a:t>Customer Service Message Tone Classification</a:t>
            </a:r>
            <a:endParaRPr lang="en-US" sz="54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822960" y="411480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0"/>
              </a:spcAft>
              <a:buNone/>
            </a:pPr>
            <a:r>
              <a:rPr lang="en-US" sz="2000" dirty="0">
                <a:solidFill>
                  <a:schemeClr val="bg1"/>
                </a:solidFill>
              </a:rPr>
              <a:t>ARI 410/510  |  Project Phase 1: Task and Annotation Setup</a:t>
            </a:r>
            <a:endParaRPr lang="en-US" sz="2000" dirty="0"/>
          </a:p>
          <a:p>
            <a:pPr marL="0" indent="0" algn="l">
              <a:spcAft>
                <a:spcPts val="1000"/>
              </a:spcAft>
              <a:buNone/>
            </a:pPr>
            <a:r>
              <a:rPr lang="en-US" sz="2000" dirty="0">
                <a:solidFill>
                  <a:schemeClr val="accent4"/>
                </a:solidFill>
              </a:rPr>
              <a:t>Venkat  |  Vishnu  |  Roshkrishna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chemeClr val="tx1"/>
                </a:solidFill>
              </a:rPr>
              <a:t>Why It Matters</a:t>
            </a:r>
            <a:endParaRPr lang="en-US" sz="3800" dirty="0"/>
          </a:p>
        </p:txBody>
      </p:sp>
      <p:sp>
        <p:nvSpPr>
          <p:cNvPr id="3" name="Card 1"/>
          <p:cNvSpPr/>
          <p:nvPr/>
        </p:nvSpPr>
        <p:spPr>
          <a:xfrm>
            <a:off x="548640" y="1508760"/>
            <a:ext cx="5440680" cy="21488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Icon circle 1"/>
          <p:cNvSpPr/>
          <p:nvPr/>
        </p:nvSpPr>
        <p:spPr>
          <a:xfrm>
            <a:off x="822960" y="1783080"/>
            <a:ext cx="731520" cy="73152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Spot customers who need attenti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965960"/>
            <a:ext cx="365760" cy="365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783080" y="1737360"/>
            <a:ext cx="3977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Spot customers who need attention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651760"/>
            <a:ext cx="4892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Frustrated or escalating customers can be flagged, so a person looks at them sooner.</a:t>
            </a:r>
            <a:endParaRPr lang="en-US" sz="1400" dirty="0"/>
          </a:p>
        </p:txBody>
      </p:sp>
      <p:sp>
        <p:nvSpPr>
          <p:cNvPr id="8" name="Card 2"/>
          <p:cNvSpPr/>
          <p:nvPr/>
        </p:nvSpPr>
        <p:spPr>
          <a:xfrm>
            <a:off x="6172200" y="1508760"/>
            <a:ext cx="5440680" cy="21488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Icon circle 2"/>
          <p:cNvSpPr/>
          <p:nvPr/>
        </p:nvSpPr>
        <p:spPr>
          <a:xfrm>
            <a:off x="6446520" y="1783080"/>
            <a:ext cx="731520" cy="73152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1" descr="Help write better replie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400" y="196596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406640" y="1737360"/>
            <a:ext cx="3977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Help write better replies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6446520" y="2651760"/>
            <a:ext cx="4892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Knowing a customer is upset helps an agent or a bot reply the right way, or hand over to a human.</a:t>
            </a:r>
            <a:endParaRPr lang="en-US" sz="1400" dirty="0"/>
          </a:p>
        </p:txBody>
      </p:sp>
      <p:sp>
        <p:nvSpPr>
          <p:cNvPr id="13" name="Card 3"/>
          <p:cNvSpPr/>
          <p:nvPr/>
        </p:nvSpPr>
        <p:spPr>
          <a:xfrm>
            <a:off x="548640" y="3886200"/>
            <a:ext cx="5440680" cy="21488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Icon circle 3"/>
          <p:cNvSpPr/>
          <p:nvPr/>
        </p:nvSpPr>
        <p:spPr>
          <a:xfrm>
            <a:off x="822960" y="4160520"/>
            <a:ext cx="731520" cy="73152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2" descr="Find repeated problems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5840" y="4343400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783080" y="4114800"/>
            <a:ext cx="3977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 repeated problems</a:t>
            </a:r>
            <a:endParaRPr lang="en-US" sz="2000" dirty="0"/>
          </a:p>
        </p:txBody>
      </p:sp>
      <p:sp>
        <p:nvSpPr>
          <p:cNvPr id="17" name="Text 12"/>
          <p:cNvSpPr txBox="1"/>
          <p:nvPr/>
        </p:nvSpPr>
        <p:spPr>
          <a:xfrm>
            <a:off x="822960" y="5029200"/>
            <a:ext cx="4892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upset customers about the same issue, like late deliveries or refunds, point to something worth fixing.</a:t>
            </a:r>
            <a:endParaRPr lang="en-US" sz="1400" dirty="0"/>
          </a:p>
        </p:txBody>
      </p:sp>
      <p:sp>
        <p:nvSpPr>
          <p:cNvPr id="18" name="Card 4"/>
          <p:cNvSpPr/>
          <p:nvPr/>
        </p:nvSpPr>
        <p:spPr>
          <a:xfrm>
            <a:off x="6172200" y="3886200"/>
            <a:ext cx="5440680" cy="21488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Icon circle 4"/>
          <p:cNvSpPr/>
          <p:nvPr/>
        </p:nvSpPr>
        <p:spPr>
          <a:xfrm>
            <a:off x="6446520" y="4160520"/>
            <a:ext cx="731520" cy="73152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3" descr="New labels for a hard problem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29400" y="4343400"/>
            <a:ext cx="365760" cy="36576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406640" y="4114800"/>
            <a:ext cx="3977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New labels for a hard problem</a:t>
            </a:r>
            <a:endParaRPr lang="en-US" sz="2000" dirty="0"/>
          </a:p>
        </p:txBody>
      </p:sp>
      <p:sp>
        <p:nvSpPr>
          <p:cNvPr id="22" name="Text 16"/>
          <p:cNvSpPr txBox="1"/>
          <p:nvPr/>
        </p:nvSpPr>
        <p:spPr>
          <a:xfrm>
            <a:off x="6446520" y="5029200"/>
            <a:ext cx="4892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2.8M support tweets, zero tone labels. “Thanks a lot” can be praise or sarcasm, so you need the whole conversation.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chemeClr val="tx1"/>
                </a:solidFill>
              </a:rPr>
              <a:t>The Task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the customer's overall tone across the complete conversation. Agent replies provide context; the last message alone may be misleading.</a:t>
            </a:r>
            <a:endParaRPr lang="en-US" sz="2000" dirty="0"/>
          </a:p>
        </p:txBody>
      </p:sp>
      <p:sp>
        <p:nvSpPr>
          <p:cNvPr id="4" name="Label card 1"/>
          <p:cNvSpPr/>
          <p:nvPr/>
        </p:nvSpPr>
        <p:spPr>
          <a:xfrm>
            <a:off x="548640" y="2194560"/>
            <a:ext cx="2103120" cy="26974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Label number 1"/>
          <p:cNvSpPr/>
          <p:nvPr/>
        </p:nvSpPr>
        <p:spPr>
          <a:xfrm>
            <a:off x="731520" y="2377440"/>
            <a:ext cx="548640" cy="54864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731520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017520"/>
            <a:ext cx="1737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Appreciative or positive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411480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Thanks, praise, satisfaction</a:t>
            </a:r>
            <a:endParaRPr lang="en-US" sz="1400" dirty="0"/>
          </a:p>
        </p:txBody>
      </p:sp>
      <p:sp>
        <p:nvSpPr>
          <p:cNvPr id="9" name="Label card 2"/>
          <p:cNvSpPr/>
          <p:nvPr/>
        </p:nvSpPr>
        <p:spPr>
          <a:xfrm>
            <a:off x="2788920" y="2194560"/>
            <a:ext cx="2103120" cy="26974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Label number 2"/>
          <p:cNvSpPr/>
          <p:nvPr/>
        </p:nvSpPr>
        <p:spPr>
          <a:xfrm>
            <a:off x="2971800" y="2377440"/>
            <a:ext cx="548640" cy="54864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2971800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2971800" y="3017520"/>
            <a:ext cx="1737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Neutral or informational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2971800" y="411480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Facts and details, no visible emotion</a:t>
            </a:r>
            <a:endParaRPr lang="en-US" sz="1400" dirty="0"/>
          </a:p>
        </p:txBody>
      </p:sp>
      <p:sp>
        <p:nvSpPr>
          <p:cNvPr id="14" name="Label card 3"/>
          <p:cNvSpPr/>
          <p:nvPr/>
        </p:nvSpPr>
        <p:spPr>
          <a:xfrm>
            <a:off x="5029200" y="2194560"/>
            <a:ext cx="2103120" cy="26974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Label number 3"/>
          <p:cNvSpPr/>
          <p:nvPr/>
        </p:nvSpPr>
        <p:spPr>
          <a:xfrm>
            <a:off x="5212080" y="2377440"/>
            <a:ext cx="548640" cy="54864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5212080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5212080" y="3017520"/>
            <a:ext cx="1737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Help-seeking or asking a question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5212080" y="411480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Wants an answer or help, calm tone</a:t>
            </a:r>
            <a:endParaRPr lang="en-US" sz="1400" dirty="0"/>
          </a:p>
        </p:txBody>
      </p:sp>
      <p:sp>
        <p:nvSpPr>
          <p:cNvPr id="19" name="Label card 4"/>
          <p:cNvSpPr/>
          <p:nvPr/>
        </p:nvSpPr>
        <p:spPr>
          <a:xfrm>
            <a:off x="7269480" y="2194560"/>
            <a:ext cx="2103120" cy="26974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Label number 4"/>
          <p:cNvSpPr/>
          <p:nvPr/>
        </p:nvSpPr>
        <p:spPr>
          <a:xfrm>
            <a:off x="7452360" y="2377440"/>
            <a:ext cx="548640" cy="54864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7452360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7452360" y="3017520"/>
            <a:ext cx="1737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Frustrated or complaining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7452360" y="411480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Unhappy or critical, no demand or threat</a:t>
            </a:r>
            <a:endParaRPr lang="en-US" sz="1400" dirty="0"/>
          </a:p>
        </p:txBody>
      </p:sp>
      <p:sp>
        <p:nvSpPr>
          <p:cNvPr id="24" name="Label card 5"/>
          <p:cNvSpPr/>
          <p:nvPr/>
        </p:nvSpPr>
        <p:spPr>
          <a:xfrm>
            <a:off x="9509760" y="2194560"/>
            <a:ext cx="2103120" cy="26974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Label number 5"/>
          <p:cNvSpPr/>
          <p:nvPr/>
        </p:nvSpPr>
        <p:spPr>
          <a:xfrm>
            <a:off x="9692640" y="2377440"/>
            <a:ext cx="548640" cy="54864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 txBox="1"/>
          <p:nvPr/>
        </p:nvSpPr>
        <p:spPr>
          <a:xfrm>
            <a:off x="9692640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9692640" y="3017520"/>
            <a:ext cx="1737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Escalatory or requesting immediate resolution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9692640" y="411480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Demands action or raises the stakes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51663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multiple tones apply across the exchange: Escalatory, Frustrated, Help-seeking, Appreciative, Neutral.</a:t>
            </a:r>
            <a:endParaRPr lang="en-US" sz="18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56692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next five slides show a real Amazon support conversation for each label.</a:t>
            </a:r>
            <a:endParaRPr lang="en-US" sz="180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chemeClr val="tx1"/>
                </a:solidFill>
              </a:rPr>
              <a:t>1. Appreciative or positive</a:t>
            </a:r>
            <a:endParaRPr lang="en-US" sz="3800" dirty="0"/>
          </a:p>
        </p:txBody>
      </p:sp>
      <p:sp>
        <p:nvSpPr>
          <p:cNvPr id="3" name="Tab 1"/>
          <p:cNvSpPr txBox="1"/>
          <p:nvPr/>
        </p:nvSpPr>
        <p:spPr>
          <a:xfrm>
            <a:off x="548640" y="1371600"/>
            <a:ext cx="2125066" cy="50292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Appreciative</a:t>
            </a:r>
            <a:endParaRPr lang="en-US" sz="1500" dirty="0"/>
          </a:p>
        </p:txBody>
      </p:sp>
      <p:sp>
        <p:nvSpPr>
          <p:cNvPr id="4" name="Tab 2"/>
          <p:cNvSpPr txBox="1"/>
          <p:nvPr/>
        </p:nvSpPr>
        <p:spPr>
          <a:xfrm>
            <a:off x="2783434" y="1371600"/>
            <a:ext cx="2125066" cy="502920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Neutral</a:t>
            </a:r>
            <a:endParaRPr lang="en-US" sz="1500" dirty="0"/>
          </a:p>
        </p:txBody>
      </p:sp>
      <p:sp>
        <p:nvSpPr>
          <p:cNvPr id="5" name="Tab 3"/>
          <p:cNvSpPr txBox="1"/>
          <p:nvPr/>
        </p:nvSpPr>
        <p:spPr>
          <a:xfrm>
            <a:off x="5018227" y="1371600"/>
            <a:ext cx="2125066" cy="502920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Help-seeking</a:t>
            </a:r>
            <a:endParaRPr lang="en-US" sz="1500" dirty="0"/>
          </a:p>
        </p:txBody>
      </p:sp>
      <p:sp>
        <p:nvSpPr>
          <p:cNvPr id="6" name="Tab 4"/>
          <p:cNvSpPr txBox="1"/>
          <p:nvPr/>
        </p:nvSpPr>
        <p:spPr>
          <a:xfrm>
            <a:off x="7253021" y="1371600"/>
            <a:ext cx="2125066" cy="502920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Frustrated</a:t>
            </a:r>
            <a:endParaRPr lang="en-US" sz="1500" dirty="0"/>
          </a:p>
        </p:txBody>
      </p:sp>
      <p:sp>
        <p:nvSpPr>
          <p:cNvPr id="7" name="Tab 5"/>
          <p:cNvSpPr txBox="1"/>
          <p:nvPr/>
        </p:nvSpPr>
        <p:spPr>
          <a:xfrm>
            <a:off x="9487814" y="1371600"/>
            <a:ext cx="2125066" cy="502920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Escalatory</a:t>
            </a:r>
            <a:endParaRPr lang="en-US" sz="1500" dirty="0"/>
          </a:p>
        </p:txBody>
      </p:sp>
      <p:sp>
        <p:nvSpPr>
          <p:cNvPr id="8" name="Guide panel"/>
          <p:cNvSpPr/>
          <p:nvPr/>
        </p:nvSpPr>
        <p:spPr>
          <a:xfrm>
            <a:off x="548640" y="2148840"/>
            <a:ext cx="4206240" cy="40690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Guide text"/>
          <p:cNvSpPr txBox="1"/>
          <p:nvPr/>
        </p:nvSpPr>
        <p:spPr>
          <a:xfrm>
            <a:off x="731520" y="2194560"/>
            <a:ext cx="384048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Bef>
                <a:spcPts val="800"/>
              </a:spcBef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means</a:t>
            </a:r>
            <a:endParaRPr lang="en-US" sz="1600" dirty="0"/>
          </a:p>
          <a:p>
            <a:pPr marL="0" indent="0">
              <a:buNone/>
            </a:pPr>
            <a:r>
              <a:rPr 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customer is pleased, grateful or praising.</a:t>
            </a:r>
            <a:endParaRPr lang="en-US" sz="1600" dirty="0"/>
          </a:p>
          <a:p>
            <a:pPr marL="0" indent="0">
              <a:spcBef>
                <a:spcPts val="800"/>
              </a:spcBef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Cues</a:t>
            </a:r>
            <a:endParaRPr lang="en-US" sz="1600" dirty="0"/>
          </a:p>
          <a:p>
            <a:pPr marL="0" indent="0">
              <a:buNone/>
            </a:pPr>
            <a:r>
              <a:rPr 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"thank you very much", "awesome", "love it", "so happy", praise, positive emojis.</a:t>
            </a:r>
            <a:endParaRPr lang="en-US" sz="1600" dirty="0"/>
          </a:p>
          <a:p>
            <a:pPr marL="0" indent="0">
              <a:spcBef>
                <a:spcPts val="800"/>
              </a:spcBef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label</a:t>
            </a:r>
            <a:endParaRPr lang="en-US" sz="1600" dirty="0"/>
          </a:p>
          <a:p>
            <a:pPr marL="0" indent="0">
              <a:buNone/>
            </a:pPr>
            <a:r>
              <a:rPr 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customer expresses enthusiasm in both messages, praising the movie and saying “Awesome thanks”. The exchange supports an Appreciative label.</a:t>
            </a:r>
            <a:endParaRPr lang="en-US" sz="1600" dirty="0"/>
          </a:p>
        </p:txBody>
      </p:sp>
      <p:sp>
        <p:nvSpPr>
          <p:cNvPr id="10" name="Msg1"/>
          <p:cNvSpPr txBox="1"/>
          <p:nvPr/>
        </p:nvSpPr>
        <p:spPr>
          <a:xfrm>
            <a:off x="5852160" y="2148840"/>
            <a:ext cx="5760720" cy="932688"/>
          </a:xfrm>
          <a:prstGeom prst="roundRect">
            <a:avLst>
              <a:gd name="adj" fmla="val 14286"/>
            </a:avLst>
          </a:prstGeom>
          <a:solidFill>
            <a:schemeClr val="tx1"/>
          </a:solidFill>
          <a:ln w="12700">
            <a:solidFill>
              <a:schemeClr val="tx1"/>
            </a:solidFill>
          </a:ln>
        </p:spPr>
        <p:txBody>
          <a:bodyPr wrap="square" lIns="381" tIns="2540" rIns="2540" bIns="381" rtlCol="0" anchor="ctr"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Customer: </a:t>
            </a: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 wud nt hv been a prime member #arjunreddy would have made me 1. #bestmovieonamazonprime wtchd in loop 3 times yday</a:t>
            </a:r>
            <a:endParaRPr lang="en-US" sz="1400" dirty="0"/>
          </a:p>
        </p:txBody>
      </p:sp>
      <p:sp>
        <p:nvSpPr>
          <p:cNvPr id="11" name="Msg2"/>
          <p:cNvSpPr txBox="1"/>
          <p:nvPr/>
        </p:nvSpPr>
        <p:spPr>
          <a:xfrm>
            <a:off x="5029200" y="3172968"/>
            <a:ext cx="5760720" cy="530352"/>
          </a:xfrm>
          <a:prstGeom prst="roundRect">
            <a:avLst>
              <a:gd name="adj" fmla="val 18182"/>
            </a:avLst>
          </a:prstGeom>
          <a:solidFill>
            <a:schemeClr val="bg2"/>
          </a:solidFill>
          <a:ln w="12700">
            <a:solidFill>
              <a:schemeClr val="accent4"/>
            </a:solidFill>
          </a:ln>
        </p:spPr>
        <p:txBody>
          <a:bodyPr wrap="square" lIns="381" tIns="2540" rIns="2540" bIns="381" rtlCol="0" anchor="ctr"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Support: </a:t>
            </a: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Hope you liked the movie. #HappyStreaming.</a:t>
            </a:r>
            <a:endParaRPr lang="en-US" sz="1400" dirty="0"/>
          </a:p>
        </p:txBody>
      </p:sp>
      <p:sp>
        <p:nvSpPr>
          <p:cNvPr id="12" name="Msg3"/>
          <p:cNvSpPr txBox="1"/>
          <p:nvPr/>
        </p:nvSpPr>
        <p:spPr>
          <a:xfrm>
            <a:off x="5852160" y="3794760"/>
            <a:ext cx="5760720" cy="530352"/>
          </a:xfrm>
          <a:prstGeom prst="roundRect">
            <a:avLst>
              <a:gd name="adj" fmla="val 18182"/>
            </a:avLst>
          </a:prstGeom>
          <a:solidFill>
            <a:schemeClr val="tx1"/>
          </a:solidFill>
          <a:ln w="12700">
            <a:solidFill>
              <a:schemeClr val="tx1"/>
            </a:solidFill>
          </a:ln>
        </p:spPr>
        <p:txBody>
          <a:bodyPr wrap="square" lIns="381" tIns="2540" rIns="2540" bIns="381" rtlCol="0" anchor="ctr"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Customer: </a:t>
            </a: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Awesome thanks #amazonprimevideo</a:t>
            </a:r>
            <a:endParaRPr lang="en-US" sz="1400" dirty="0"/>
          </a:p>
        </p:txBody>
      </p:sp>
      <p:sp>
        <p:nvSpPr>
          <p:cNvPr id="13" name="Msg4"/>
          <p:cNvSpPr txBox="1"/>
          <p:nvPr/>
        </p:nvSpPr>
        <p:spPr>
          <a:xfrm>
            <a:off x="5029200" y="4416552"/>
            <a:ext cx="5760720" cy="530352"/>
          </a:xfrm>
          <a:prstGeom prst="roundRect">
            <a:avLst>
              <a:gd name="adj" fmla="val 18182"/>
            </a:avLst>
          </a:prstGeom>
          <a:solidFill>
            <a:schemeClr val="bg2"/>
          </a:solidFill>
          <a:ln w="12700">
            <a:solidFill>
              <a:schemeClr val="accent4"/>
            </a:solidFill>
          </a:ln>
        </p:spPr>
        <p:txBody>
          <a:bodyPr wrap="square" lIns="381" tIns="2540" rIns="2540" bIns="381" rtlCol="0" anchor="ctr"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Support: </a:t>
            </a: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You're welcome! :)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chemeClr val="tx1"/>
                </a:solidFill>
              </a:rPr>
              <a:t>2. Neutral or informational</a:t>
            </a:r>
            <a:endParaRPr lang="en-US" sz="3800" dirty="0"/>
          </a:p>
        </p:txBody>
      </p:sp>
      <p:sp>
        <p:nvSpPr>
          <p:cNvPr id="3" name="Tab 1"/>
          <p:cNvSpPr txBox="1"/>
          <p:nvPr/>
        </p:nvSpPr>
        <p:spPr>
          <a:xfrm>
            <a:off x="548640" y="1371600"/>
            <a:ext cx="2125066" cy="502920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Appreciative</a:t>
            </a:r>
            <a:endParaRPr lang="en-US" sz="1500" dirty="0"/>
          </a:p>
        </p:txBody>
      </p:sp>
      <p:sp>
        <p:nvSpPr>
          <p:cNvPr id="4" name="Tab 2"/>
          <p:cNvSpPr txBox="1"/>
          <p:nvPr/>
        </p:nvSpPr>
        <p:spPr>
          <a:xfrm>
            <a:off x="2783434" y="1371600"/>
            <a:ext cx="2125066" cy="50292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Neutral</a:t>
            </a:r>
            <a:endParaRPr lang="en-US" sz="1500" dirty="0"/>
          </a:p>
        </p:txBody>
      </p:sp>
      <p:sp>
        <p:nvSpPr>
          <p:cNvPr id="5" name="Tab 3"/>
          <p:cNvSpPr txBox="1"/>
          <p:nvPr/>
        </p:nvSpPr>
        <p:spPr>
          <a:xfrm>
            <a:off x="5018227" y="1371600"/>
            <a:ext cx="2125066" cy="502920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Help-seeking</a:t>
            </a:r>
            <a:endParaRPr lang="en-US" sz="1500" dirty="0"/>
          </a:p>
        </p:txBody>
      </p:sp>
      <p:sp>
        <p:nvSpPr>
          <p:cNvPr id="6" name="Tab 4"/>
          <p:cNvSpPr txBox="1"/>
          <p:nvPr/>
        </p:nvSpPr>
        <p:spPr>
          <a:xfrm>
            <a:off x="7253021" y="1371600"/>
            <a:ext cx="2125066" cy="502920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Frustrated</a:t>
            </a:r>
            <a:endParaRPr lang="en-US" sz="1500" dirty="0"/>
          </a:p>
        </p:txBody>
      </p:sp>
      <p:sp>
        <p:nvSpPr>
          <p:cNvPr id="7" name="Tab 5"/>
          <p:cNvSpPr txBox="1"/>
          <p:nvPr/>
        </p:nvSpPr>
        <p:spPr>
          <a:xfrm>
            <a:off x="9487814" y="1371600"/>
            <a:ext cx="2125066" cy="502920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Escalatory</a:t>
            </a:r>
            <a:endParaRPr lang="en-US" sz="1500" dirty="0"/>
          </a:p>
        </p:txBody>
      </p:sp>
      <p:sp>
        <p:nvSpPr>
          <p:cNvPr id="8" name="Guide panel"/>
          <p:cNvSpPr/>
          <p:nvPr/>
        </p:nvSpPr>
        <p:spPr>
          <a:xfrm>
            <a:off x="548640" y="2148840"/>
            <a:ext cx="4206240" cy="40690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Guide text"/>
          <p:cNvSpPr txBox="1"/>
          <p:nvPr/>
        </p:nvSpPr>
        <p:spPr>
          <a:xfrm>
            <a:off x="731520" y="2194560"/>
            <a:ext cx="384048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Bef>
                <a:spcPts val="800"/>
              </a:spcBef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means</a:t>
            </a:r>
            <a:endParaRPr lang="en-US" sz="1600" dirty="0"/>
          </a:p>
          <a:p>
            <a:pPr marL="0" indent="0">
              <a:buNone/>
            </a:pPr>
            <a:r>
              <a:rPr 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customer states facts or answers questions with no visible emotion, question or demand.</a:t>
            </a:r>
            <a:endParaRPr lang="en-US" sz="1600" dirty="0"/>
          </a:p>
          <a:p>
            <a:pPr marL="0" indent="0">
              <a:spcBef>
                <a:spcPts val="800"/>
              </a:spcBef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Cues</a:t>
            </a:r>
            <a:endParaRPr lang="en-US" sz="1600" dirty="0"/>
          </a:p>
          <a:p>
            <a:pPr marL="0" indent="0">
              <a:buNone/>
            </a:pPr>
            <a:r>
              <a:rPr 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details, dates, tracking status, "I did", "it's the .ca site".</a:t>
            </a:r>
            <a:endParaRPr lang="en-US" sz="1600" dirty="0"/>
          </a:p>
          <a:p>
            <a:pPr marL="0" indent="0">
              <a:spcBef>
                <a:spcPts val="800"/>
              </a:spcBef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label</a:t>
            </a:r>
            <a:endParaRPr lang="en-US" sz="1600" dirty="0"/>
          </a:p>
          <a:p>
            <a:pPr marL="0" indent="0">
              <a:buNone/>
            </a:pPr>
            <a:r>
              <a:rPr 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customer messages are plain statements of fact. There are no emotion words, no question marks and no demands, even though a delivery is late.</a:t>
            </a:r>
            <a:endParaRPr lang="en-US" sz="1600" dirty="0"/>
          </a:p>
        </p:txBody>
      </p:sp>
      <p:sp>
        <p:nvSpPr>
          <p:cNvPr id="10" name="Msg1"/>
          <p:cNvSpPr txBox="1"/>
          <p:nvPr/>
        </p:nvSpPr>
        <p:spPr>
          <a:xfrm>
            <a:off x="5852160" y="2148840"/>
            <a:ext cx="5760720" cy="932688"/>
          </a:xfrm>
          <a:prstGeom prst="roundRect">
            <a:avLst>
              <a:gd name="adj" fmla="val 14286"/>
            </a:avLst>
          </a:prstGeom>
          <a:solidFill>
            <a:schemeClr val="tx1"/>
          </a:solidFill>
          <a:ln w="12700">
            <a:solidFill>
              <a:schemeClr val="tx1"/>
            </a:solidFill>
          </a:ln>
        </p:spPr>
        <p:txBody>
          <a:bodyPr wrap="square" lIns="381" tIns="2540" rIns="2540" bIns="381" rtlCol="0" anchor="ctr"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Customer: </a:t>
            </a: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made an order on Wednesday and selected One day shipping and the package did not arrive yesterday, and has yet to arrive today.</a:t>
            </a:r>
            <a:endParaRPr lang="en-US" sz="1400" dirty="0"/>
          </a:p>
        </p:txBody>
      </p:sp>
      <p:sp>
        <p:nvSpPr>
          <p:cNvPr id="11" name="Msg2"/>
          <p:cNvSpPr txBox="1"/>
          <p:nvPr/>
        </p:nvSpPr>
        <p:spPr>
          <a:xfrm>
            <a:off x="5029200" y="3172968"/>
            <a:ext cx="5760720" cy="932688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chemeClr val="accent4"/>
            </a:solidFill>
          </a:ln>
        </p:spPr>
        <p:txBody>
          <a:bodyPr wrap="square" lIns="381" tIns="2540" rIns="2540" bIns="381" rtlCol="0" anchor="ctr"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Support: </a:t>
            </a: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I'm sorry you haven't received your order as anticipated; we'd like to help. Did you place this order on [link] (.co.uk, .ca)?</a:t>
            </a:r>
            <a:endParaRPr lang="en-US" sz="1400" dirty="0"/>
          </a:p>
        </p:txBody>
      </p:sp>
      <p:sp>
        <p:nvSpPr>
          <p:cNvPr id="12" name="Msg3"/>
          <p:cNvSpPr txBox="1"/>
          <p:nvPr/>
        </p:nvSpPr>
        <p:spPr>
          <a:xfrm>
            <a:off x="5852160" y="4197096"/>
            <a:ext cx="5760720" cy="530352"/>
          </a:xfrm>
          <a:prstGeom prst="roundRect">
            <a:avLst>
              <a:gd name="adj" fmla="val 18182"/>
            </a:avLst>
          </a:prstGeom>
          <a:solidFill>
            <a:schemeClr val="tx1"/>
          </a:solidFill>
          <a:ln w="12700">
            <a:solidFill>
              <a:schemeClr val="tx1"/>
            </a:solidFill>
          </a:ln>
        </p:spPr>
        <p:txBody>
          <a:bodyPr wrap="square" lIns="381" tIns="2540" rIns="2540" bIns="381" rtlCol="0" anchor="ctr"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Customer: </a:t>
            </a: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ordered it from the Canadian website (.ca).</a:t>
            </a:r>
            <a:endParaRPr lang="en-US" sz="1400" dirty="0"/>
          </a:p>
        </p:txBody>
      </p:sp>
      <p:sp>
        <p:nvSpPr>
          <p:cNvPr id="13" name="Msg4"/>
          <p:cNvSpPr txBox="1"/>
          <p:nvPr/>
        </p:nvSpPr>
        <p:spPr>
          <a:xfrm>
            <a:off x="5029200" y="4818888"/>
            <a:ext cx="5760720" cy="749808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chemeClr val="accent4"/>
            </a:solidFill>
          </a:ln>
        </p:spPr>
        <p:txBody>
          <a:bodyPr wrap="square" lIns="381" tIns="2540" rIns="2540" bIns="381" rtlCol="0" anchor="ctr"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Support: </a:t>
            </a: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Thanks for clarifying! We'd like to look into this with you. Please reach out to us via phone or chat here: [link]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chemeClr val="tx1"/>
                </a:solidFill>
              </a:rPr>
              <a:t>3. Help-seeking or asking a question</a:t>
            </a:r>
            <a:endParaRPr lang="en-US" sz="3800" dirty="0"/>
          </a:p>
        </p:txBody>
      </p:sp>
      <p:sp>
        <p:nvSpPr>
          <p:cNvPr id="3" name="Tab 1"/>
          <p:cNvSpPr txBox="1"/>
          <p:nvPr/>
        </p:nvSpPr>
        <p:spPr>
          <a:xfrm>
            <a:off x="548640" y="1371600"/>
            <a:ext cx="2125066" cy="502920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Appreciative</a:t>
            </a:r>
            <a:endParaRPr lang="en-US" sz="1500" dirty="0"/>
          </a:p>
        </p:txBody>
      </p:sp>
      <p:sp>
        <p:nvSpPr>
          <p:cNvPr id="4" name="Tab 2"/>
          <p:cNvSpPr txBox="1"/>
          <p:nvPr/>
        </p:nvSpPr>
        <p:spPr>
          <a:xfrm>
            <a:off x="2783434" y="1371600"/>
            <a:ext cx="2125066" cy="502920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Neutral</a:t>
            </a:r>
            <a:endParaRPr lang="en-US" sz="1500" dirty="0"/>
          </a:p>
        </p:txBody>
      </p:sp>
      <p:sp>
        <p:nvSpPr>
          <p:cNvPr id="5" name="Tab 3"/>
          <p:cNvSpPr txBox="1"/>
          <p:nvPr/>
        </p:nvSpPr>
        <p:spPr>
          <a:xfrm>
            <a:off x="5018227" y="1371600"/>
            <a:ext cx="2125066" cy="50292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Help-seeking</a:t>
            </a:r>
            <a:endParaRPr lang="en-US" sz="1500" dirty="0"/>
          </a:p>
        </p:txBody>
      </p:sp>
      <p:sp>
        <p:nvSpPr>
          <p:cNvPr id="6" name="Tab 4"/>
          <p:cNvSpPr txBox="1"/>
          <p:nvPr/>
        </p:nvSpPr>
        <p:spPr>
          <a:xfrm>
            <a:off x="7253021" y="1371600"/>
            <a:ext cx="2125066" cy="502920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Frustrated</a:t>
            </a:r>
            <a:endParaRPr lang="en-US" sz="1500" dirty="0"/>
          </a:p>
        </p:txBody>
      </p:sp>
      <p:sp>
        <p:nvSpPr>
          <p:cNvPr id="7" name="Tab 5"/>
          <p:cNvSpPr txBox="1"/>
          <p:nvPr/>
        </p:nvSpPr>
        <p:spPr>
          <a:xfrm>
            <a:off x="9487814" y="1371600"/>
            <a:ext cx="2125066" cy="502920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Escalatory</a:t>
            </a:r>
            <a:endParaRPr lang="en-US" sz="1500" dirty="0"/>
          </a:p>
        </p:txBody>
      </p:sp>
      <p:sp>
        <p:nvSpPr>
          <p:cNvPr id="8" name="Guide panel"/>
          <p:cNvSpPr/>
          <p:nvPr/>
        </p:nvSpPr>
        <p:spPr>
          <a:xfrm>
            <a:off x="548640" y="2148840"/>
            <a:ext cx="4206240" cy="40690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Guide text"/>
          <p:cNvSpPr txBox="1"/>
          <p:nvPr/>
        </p:nvSpPr>
        <p:spPr>
          <a:xfrm>
            <a:off x="731520" y="2194560"/>
            <a:ext cx="384048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Bef>
                <a:spcPts val="800"/>
              </a:spcBef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means</a:t>
            </a:r>
            <a:endParaRPr lang="en-US" sz="1600" dirty="0"/>
          </a:p>
          <a:p>
            <a:pPr marL="0" indent="0">
              <a:buNone/>
            </a:pPr>
            <a:r>
              <a:rPr 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customer wants an answer, instructions or help, in a calm tone.</a:t>
            </a:r>
            <a:endParaRPr lang="en-US" sz="1600" dirty="0"/>
          </a:p>
          <a:p>
            <a:pPr marL="0" indent="0">
              <a:spcBef>
                <a:spcPts val="800"/>
              </a:spcBef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Cues</a:t>
            </a:r>
            <a:endParaRPr lang="en-US" sz="1600" dirty="0"/>
          </a:p>
          <a:p>
            <a:pPr marL="0" indent="0">
              <a:buNone/>
            </a:pPr>
            <a:r>
              <a:rPr 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marks, "how do I", "can you", "any suggestions", "please help".</a:t>
            </a:r>
            <a:endParaRPr lang="en-US" sz="1600" dirty="0"/>
          </a:p>
          <a:p>
            <a:pPr marL="0" indent="0">
              <a:spcBef>
                <a:spcPts val="800"/>
              </a:spcBef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label</a:t>
            </a:r>
            <a:endParaRPr lang="en-US" sz="1600" dirty="0"/>
          </a:p>
          <a:p>
            <a:pPr marL="0" indent="0">
              <a:buNone/>
            </a:pPr>
            <a:r>
              <a:rPr 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customer describes a technical problem, asks for suggestions, then asks a genuine follow-up question. The tone is friendly and cooperative, with no blame.</a:t>
            </a:r>
            <a:endParaRPr lang="en-US" sz="1600" dirty="0"/>
          </a:p>
        </p:txBody>
      </p:sp>
      <p:sp>
        <p:nvSpPr>
          <p:cNvPr id="10" name="Msg1"/>
          <p:cNvSpPr txBox="1"/>
          <p:nvPr/>
        </p:nvSpPr>
        <p:spPr>
          <a:xfrm>
            <a:off x="5852160" y="2148840"/>
            <a:ext cx="5760720" cy="749808"/>
          </a:xfrm>
          <a:prstGeom prst="roundRect">
            <a:avLst>
              <a:gd name="adj" fmla="val 14286"/>
            </a:avLst>
          </a:prstGeom>
          <a:solidFill>
            <a:schemeClr val="tx1"/>
          </a:solidFill>
          <a:ln w="12700">
            <a:solidFill>
              <a:schemeClr val="tx1"/>
            </a:solidFill>
          </a:ln>
        </p:spPr>
        <p:txBody>
          <a:bodyPr wrap="square" lIns="381" tIns="2540" rIns="2540" bIns="381" rtlCol="0" anchor="ctr"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Customer: </a:t>
            </a: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Hiya - all radio stations cut out regularly using app on Alexa - any suggestions? (works fine on other devices)</a:t>
            </a:r>
            <a:endParaRPr lang="en-US" sz="1400" dirty="0"/>
          </a:p>
        </p:txBody>
      </p:sp>
      <p:sp>
        <p:nvSpPr>
          <p:cNvPr id="11" name="Msg2"/>
          <p:cNvSpPr txBox="1"/>
          <p:nvPr/>
        </p:nvSpPr>
        <p:spPr>
          <a:xfrm>
            <a:off x="5029200" y="2990088"/>
            <a:ext cx="5760720" cy="749808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chemeClr val="accent4"/>
            </a:solidFill>
          </a:ln>
        </p:spPr>
        <p:txBody>
          <a:bodyPr wrap="square" lIns="381" tIns="2540" rIns="2540" bIns="381" rtlCol="0" anchor="ctr"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Support: </a:t>
            </a: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 [name], have you cleared the Data on the App for this particular device ?</a:t>
            </a:r>
            <a:endParaRPr lang="en-US" sz="1400" dirty="0"/>
          </a:p>
        </p:txBody>
      </p:sp>
      <p:sp>
        <p:nvSpPr>
          <p:cNvPr id="12" name="Msg3"/>
          <p:cNvSpPr txBox="1"/>
          <p:nvPr/>
        </p:nvSpPr>
        <p:spPr>
          <a:xfrm>
            <a:off x="5852160" y="3831335"/>
            <a:ext cx="5760720" cy="749808"/>
          </a:xfrm>
          <a:prstGeom prst="roundRect">
            <a:avLst>
              <a:gd name="adj" fmla="val 18182"/>
            </a:avLst>
          </a:prstGeom>
          <a:solidFill>
            <a:schemeClr val="tx1"/>
          </a:solidFill>
          <a:ln w="12700">
            <a:solidFill>
              <a:schemeClr val="tx1"/>
            </a:solidFill>
          </a:ln>
        </p:spPr>
        <p:txBody>
          <a:bodyPr wrap="square" lIns="381" tIns="2540" rIns="2540" bIns="381" rtlCol="0" anchor="ctr"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Customer: </a:t>
            </a: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No, how do I do it? (it's Alexa device with app on iPad)</a:t>
            </a:r>
            <a:endParaRPr lang="en-US" sz="1400" dirty="0"/>
          </a:p>
        </p:txBody>
      </p:sp>
      <p:sp>
        <p:nvSpPr>
          <p:cNvPr id="13" name="Msg4"/>
          <p:cNvSpPr txBox="1"/>
          <p:nvPr/>
        </p:nvSpPr>
        <p:spPr>
          <a:xfrm>
            <a:off x="5029200" y="4672583"/>
            <a:ext cx="5760720" cy="749808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chemeClr val="accent4"/>
            </a:solidFill>
          </a:ln>
        </p:spPr>
        <p:txBody>
          <a:bodyPr wrap="square" lIns="381" tIns="2540" rIns="2540" bIns="381" rtlCol="0" anchor="ctr"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Support: </a:t>
            </a: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an iPad, you can uninstall and reinstall the app. You may need to login again when reinstalling.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chemeClr val="tx1"/>
                </a:solidFill>
              </a:rPr>
              <a:t>4. Frustrated or complaining</a:t>
            </a:r>
            <a:endParaRPr lang="en-US" sz="3800" dirty="0"/>
          </a:p>
        </p:txBody>
      </p:sp>
      <p:sp>
        <p:nvSpPr>
          <p:cNvPr id="3" name="Tab 1"/>
          <p:cNvSpPr txBox="1"/>
          <p:nvPr/>
        </p:nvSpPr>
        <p:spPr>
          <a:xfrm>
            <a:off x="548640" y="1371600"/>
            <a:ext cx="2125066" cy="502920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Appreciative</a:t>
            </a:r>
            <a:endParaRPr lang="en-US" sz="1500" dirty="0"/>
          </a:p>
        </p:txBody>
      </p:sp>
      <p:sp>
        <p:nvSpPr>
          <p:cNvPr id="4" name="Tab 2"/>
          <p:cNvSpPr txBox="1"/>
          <p:nvPr/>
        </p:nvSpPr>
        <p:spPr>
          <a:xfrm>
            <a:off x="2783434" y="1371600"/>
            <a:ext cx="2125066" cy="502920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Neutral</a:t>
            </a:r>
            <a:endParaRPr lang="en-US" sz="1500" dirty="0"/>
          </a:p>
        </p:txBody>
      </p:sp>
      <p:sp>
        <p:nvSpPr>
          <p:cNvPr id="5" name="Tab 3"/>
          <p:cNvSpPr txBox="1"/>
          <p:nvPr/>
        </p:nvSpPr>
        <p:spPr>
          <a:xfrm>
            <a:off x="5018227" y="1371600"/>
            <a:ext cx="2125066" cy="502920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Help-seeking</a:t>
            </a:r>
            <a:endParaRPr lang="en-US" sz="1500" dirty="0"/>
          </a:p>
        </p:txBody>
      </p:sp>
      <p:sp>
        <p:nvSpPr>
          <p:cNvPr id="6" name="Tab 4"/>
          <p:cNvSpPr txBox="1"/>
          <p:nvPr/>
        </p:nvSpPr>
        <p:spPr>
          <a:xfrm>
            <a:off x="7253021" y="1371600"/>
            <a:ext cx="2125066" cy="50292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Frustrated</a:t>
            </a:r>
            <a:endParaRPr lang="en-US" sz="1500" dirty="0"/>
          </a:p>
        </p:txBody>
      </p:sp>
      <p:sp>
        <p:nvSpPr>
          <p:cNvPr id="7" name="Tab 5"/>
          <p:cNvSpPr txBox="1"/>
          <p:nvPr/>
        </p:nvSpPr>
        <p:spPr>
          <a:xfrm>
            <a:off x="9487814" y="1371600"/>
            <a:ext cx="2125066" cy="502920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Escalatory</a:t>
            </a:r>
            <a:endParaRPr lang="en-US" sz="1500" dirty="0"/>
          </a:p>
        </p:txBody>
      </p:sp>
      <p:sp>
        <p:nvSpPr>
          <p:cNvPr id="8" name="Guide panel"/>
          <p:cNvSpPr/>
          <p:nvPr/>
        </p:nvSpPr>
        <p:spPr>
          <a:xfrm>
            <a:off x="548640" y="2148840"/>
            <a:ext cx="4206240" cy="40690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Guide text"/>
          <p:cNvSpPr txBox="1"/>
          <p:nvPr/>
        </p:nvSpPr>
        <p:spPr>
          <a:xfrm>
            <a:off x="731520" y="2194560"/>
            <a:ext cx="384048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Bef>
                <a:spcPts val="800"/>
              </a:spcBef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means</a:t>
            </a:r>
            <a:endParaRPr lang="en-US" sz="1600" dirty="0"/>
          </a:p>
          <a:p>
            <a:pPr marL="0" indent="0">
              <a:buNone/>
            </a:pPr>
            <a:r>
              <a:rPr 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customer is unhappy or critical but is not pressing or threatening.</a:t>
            </a:r>
            <a:endParaRPr lang="en-US" sz="1600" dirty="0"/>
          </a:p>
          <a:p>
            <a:pPr marL="0" indent="0">
              <a:spcBef>
                <a:spcPts val="800"/>
              </a:spcBef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Cues</a:t>
            </a:r>
            <a:endParaRPr lang="en-US" sz="1600" dirty="0"/>
          </a:p>
          <a:p>
            <a:pPr marL="0" indent="0">
              <a:buNone/>
            </a:pPr>
            <a:r>
              <a:rPr 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"lame", "horrible", "a joke", sarcasm, rhetorical questions, capitals for emphasis, "?!", "still waiting".</a:t>
            </a:r>
            <a:endParaRPr lang="en-US" sz="1600" dirty="0"/>
          </a:p>
          <a:p>
            <a:pPr marL="0" indent="0">
              <a:spcBef>
                <a:spcPts val="800"/>
              </a:spcBef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label</a:t>
            </a:r>
            <a:endParaRPr lang="en-US" sz="1600" dirty="0"/>
          </a:p>
          <a:p>
            <a:pPr marL="0" indent="0">
              <a:buNone/>
            </a:pPr>
            <a:r>
              <a:rPr 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customer criticizes a service gap with a sarcastic, rhetorical question and the word "lame". Nothing is demanded and nothing is threatened.</a:t>
            </a:r>
            <a:endParaRPr lang="en-US" sz="1600" dirty="0"/>
          </a:p>
        </p:txBody>
      </p:sp>
      <p:sp>
        <p:nvSpPr>
          <p:cNvPr id="10" name="Msg1"/>
          <p:cNvSpPr txBox="1"/>
          <p:nvPr/>
        </p:nvSpPr>
        <p:spPr>
          <a:xfrm>
            <a:off x="5852160" y="2148840"/>
            <a:ext cx="5760720" cy="749808"/>
          </a:xfrm>
          <a:prstGeom prst="roundRect">
            <a:avLst>
              <a:gd name="adj" fmla="val 14286"/>
            </a:avLst>
          </a:prstGeom>
          <a:solidFill>
            <a:schemeClr val="tx1"/>
          </a:solidFill>
          <a:ln w="12700">
            <a:solidFill>
              <a:schemeClr val="tx1"/>
            </a:solidFill>
          </a:ln>
        </p:spPr>
        <p:txBody>
          <a:bodyPr wrap="square" lIns="381" tIns="2540" rIns="2540" bIns="381" rtlCol="0" anchor="ctr"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Customer: </a:t>
            </a: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show lockers in Toronto but the app only lets you select pick up points</a:t>
            </a:r>
            <a:endParaRPr lang="en-US" sz="1400" dirty="0"/>
          </a:p>
        </p:txBody>
      </p:sp>
      <p:sp>
        <p:nvSpPr>
          <p:cNvPr id="11" name="Msg2"/>
          <p:cNvSpPr txBox="1"/>
          <p:nvPr/>
        </p:nvSpPr>
        <p:spPr>
          <a:xfrm>
            <a:off x="5029200" y="2990088"/>
            <a:ext cx="5760720" cy="749808"/>
          </a:xfrm>
          <a:prstGeom prst="roundRect">
            <a:avLst>
              <a:gd name="adj" fmla="val 18182"/>
            </a:avLst>
          </a:prstGeom>
          <a:solidFill>
            <a:schemeClr val="bg2"/>
          </a:solidFill>
          <a:ln w="12700">
            <a:solidFill>
              <a:schemeClr val="accent4"/>
            </a:solidFill>
          </a:ln>
        </p:spPr>
        <p:txBody>
          <a:bodyPr wrap="square" lIns="381" tIns="2540" rIns="2540" bIns="381" rtlCol="0" anchor="ctr"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Support: </a:t>
            </a: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Please reach out here so we can help you out [name] [link]</a:t>
            </a:r>
            <a:endParaRPr lang="en-US" sz="1400" dirty="0"/>
          </a:p>
        </p:txBody>
      </p:sp>
      <p:sp>
        <p:nvSpPr>
          <p:cNvPr id="12" name="Msg3"/>
          <p:cNvSpPr txBox="1"/>
          <p:nvPr/>
        </p:nvSpPr>
        <p:spPr>
          <a:xfrm>
            <a:off x="5852160" y="3831335"/>
            <a:ext cx="5760720" cy="749808"/>
          </a:xfrm>
          <a:prstGeom prst="roundRect">
            <a:avLst>
              <a:gd name="adj" fmla="val 14286"/>
            </a:avLst>
          </a:prstGeom>
          <a:solidFill>
            <a:schemeClr val="tx1"/>
          </a:solidFill>
          <a:ln w="12700">
            <a:solidFill>
              <a:schemeClr val="tx1"/>
            </a:solidFill>
          </a:ln>
        </p:spPr>
        <p:txBody>
          <a:bodyPr wrap="square" lIns="381" tIns="2540" rIns="2540" bIns="381" rtlCol="0" anchor="ctr"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Customer: </a:t>
            </a: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you put 5 lockers on the far side of the GTA but you cant put any in Toronto proper? lame</a:t>
            </a:r>
            <a:endParaRPr lang="en-US" sz="1400" dirty="0"/>
          </a:p>
        </p:txBody>
      </p:sp>
      <p:sp>
        <p:nvSpPr>
          <p:cNvPr id="13" name="Msg4"/>
          <p:cNvSpPr txBox="1"/>
          <p:nvPr/>
        </p:nvSpPr>
        <p:spPr>
          <a:xfrm>
            <a:off x="5029200" y="4672583"/>
            <a:ext cx="5760720" cy="749808"/>
          </a:xfrm>
          <a:prstGeom prst="roundRect">
            <a:avLst>
              <a:gd name="adj" fmla="val 18182"/>
            </a:avLst>
          </a:prstGeom>
          <a:solidFill>
            <a:schemeClr val="bg2"/>
          </a:solidFill>
          <a:ln w="12700">
            <a:solidFill>
              <a:schemeClr val="accent4"/>
            </a:solidFill>
          </a:ln>
        </p:spPr>
        <p:txBody>
          <a:bodyPr wrap="square" lIns="381" tIns="2540" rIns="2540" bIns="381" rtlCol="0" anchor="ctr"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Support: </a:t>
            </a: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Please use this link to locate your nearest Locker [link]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chemeClr val="tx1"/>
                </a:solidFill>
              </a:rPr>
              <a:t>5. Escalatory or requesting immediate resolution</a:t>
            </a:r>
            <a:endParaRPr lang="en-US" sz="3800" dirty="0"/>
          </a:p>
        </p:txBody>
      </p:sp>
      <p:sp>
        <p:nvSpPr>
          <p:cNvPr id="3" name="Tab 1"/>
          <p:cNvSpPr txBox="1"/>
          <p:nvPr/>
        </p:nvSpPr>
        <p:spPr>
          <a:xfrm>
            <a:off x="548640" y="1371600"/>
            <a:ext cx="2125066" cy="502920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Appreciative</a:t>
            </a:r>
            <a:endParaRPr lang="en-US" sz="1500" dirty="0"/>
          </a:p>
        </p:txBody>
      </p:sp>
      <p:sp>
        <p:nvSpPr>
          <p:cNvPr id="4" name="Tab 2"/>
          <p:cNvSpPr txBox="1"/>
          <p:nvPr/>
        </p:nvSpPr>
        <p:spPr>
          <a:xfrm>
            <a:off x="2783434" y="1371600"/>
            <a:ext cx="2125066" cy="502920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Neutral</a:t>
            </a:r>
            <a:endParaRPr lang="en-US" sz="1500" dirty="0"/>
          </a:p>
        </p:txBody>
      </p:sp>
      <p:sp>
        <p:nvSpPr>
          <p:cNvPr id="5" name="Tab 3"/>
          <p:cNvSpPr txBox="1"/>
          <p:nvPr/>
        </p:nvSpPr>
        <p:spPr>
          <a:xfrm>
            <a:off x="5018227" y="1371600"/>
            <a:ext cx="2125066" cy="502920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Help-seeking</a:t>
            </a:r>
            <a:endParaRPr lang="en-US" sz="1500" dirty="0"/>
          </a:p>
        </p:txBody>
      </p:sp>
      <p:sp>
        <p:nvSpPr>
          <p:cNvPr id="6" name="Tab 4"/>
          <p:cNvSpPr txBox="1"/>
          <p:nvPr/>
        </p:nvSpPr>
        <p:spPr>
          <a:xfrm>
            <a:off x="7253021" y="1371600"/>
            <a:ext cx="2125066" cy="502920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Frustrated</a:t>
            </a:r>
            <a:endParaRPr lang="en-US" sz="1500" dirty="0"/>
          </a:p>
        </p:txBody>
      </p:sp>
      <p:sp>
        <p:nvSpPr>
          <p:cNvPr id="7" name="Tab 5"/>
          <p:cNvSpPr txBox="1"/>
          <p:nvPr/>
        </p:nvSpPr>
        <p:spPr>
          <a:xfrm>
            <a:off x="9487814" y="1371600"/>
            <a:ext cx="2125066" cy="50292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Escalatory</a:t>
            </a:r>
            <a:endParaRPr lang="en-US" sz="1500" dirty="0"/>
          </a:p>
        </p:txBody>
      </p:sp>
      <p:sp>
        <p:nvSpPr>
          <p:cNvPr id="8" name="Guide panel"/>
          <p:cNvSpPr/>
          <p:nvPr/>
        </p:nvSpPr>
        <p:spPr>
          <a:xfrm>
            <a:off x="548640" y="2148840"/>
            <a:ext cx="4206240" cy="40690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Guide text"/>
          <p:cNvSpPr txBox="1"/>
          <p:nvPr/>
        </p:nvSpPr>
        <p:spPr>
          <a:xfrm>
            <a:off x="731520" y="2194560"/>
            <a:ext cx="384048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Bef>
                <a:spcPts val="800"/>
              </a:spcBef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means</a:t>
            </a:r>
            <a:endParaRPr lang="en-US" sz="1600" dirty="0"/>
          </a:p>
          <a:p>
            <a:pPr marL="0" indent="0">
              <a:buNone/>
            </a:pPr>
            <a:r>
              <a:rPr 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customer presses for action or raises the stakes.</a:t>
            </a:r>
            <a:endParaRPr lang="en-US" sz="1600" dirty="0"/>
          </a:p>
          <a:p>
            <a:pPr marL="0" indent="0">
              <a:spcBef>
                <a:spcPts val="800"/>
              </a:spcBef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Cues</a:t>
            </a:r>
            <a:endParaRPr lang="en-US" sz="1600" dirty="0"/>
          </a:p>
          <a:p>
            <a:pPr marL="0" indent="0">
              <a:buNone/>
            </a:pPr>
            <a:r>
              <a:rPr 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"manager", "I need a human", "ASAP", "lawsuit", "cancel my Prime", "fraud", repeated "Unacceptable", "!!!".</a:t>
            </a:r>
            <a:endParaRPr lang="en-US" sz="1600" dirty="0"/>
          </a:p>
          <a:p>
            <a:pPr marL="0" indent="0">
              <a:spcBef>
                <a:spcPts val="800"/>
              </a:spcBef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label</a:t>
            </a:r>
            <a:endParaRPr lang="en-US" sz="1600" dirty="0"/>
          </a:p>
          <a:p>
            <a:pPr marL="0" indent="0">
              <a:buNone/>
            </a:pPr>
            <a:r>
              <a:rPr 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customer asks for a manager to call, says they need a human after generic replies, and asks whether they must file a lawsuit. That is a demand plus a threat.</a:t>
            </a:r>
            <a:endParaRPr lang="en-US" sz="1600" dirty="0"/>
          </a:p>
        </p:txBody>
      </p:sp>
      <p:sp>
        <p:nvSpPr>
          <p:cNvPr id="10" name="Msg1"/>
          <p:cNvSpPr txBox="1"/>
          <p:nvPr/>
        </p:nvSpPr>
        <p:spPr>
          <a:xfrm>
            <a:off x="5852160" y="2148840"/>
            <a:ext cx="5760720" cy="777240"/>
          </a:xfrm>
          <a:prstGeom prst="roundRect">
            <a:avLst>
              <a:gd name="adj" fmla="val 14286"/>
            </a:avLst>
          </a:prstGeom>
          <a:solidFill>
            <a:schemeClr val="tx1"/>
          </a:solidFill>
          <a:ln w="12700">
            <a:solidFill>
              <a:schemeClr val="tx1"/>
            </a:solidFill>
          </a:ln>
        </p:spPr>
        <p:txBody>
          <a:bodyPr wrap="square" lIns="381" tIns="2540" rIns="2540" bIns="381" rtlCol="0" anchor="ctr">
            <a:no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Customer: </a:t>
            </a:r>
            <a:r>
              <a:rPr lang="en-US" sz="15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email support for amazon Flex is horrible. I need help to get the money I worked for!!!! PLEASE HELP ME !</a:t>
            </a:r>
            <a:endParaRPr lang="en-US" sz="1400" dirty="0"/>
          </a:p>
        </p:txBody>
      </p:sp>
      <p:sp>
        <p:nvSpPr>
          <p:cNvPr id="11" name="Msg2"/>
          <p:cNvSpPr txBox="1"/>
          <p:nvPr/>
        </p:nvSpPr>
        <p:spPr>
          <a:xfrm>
            <a:off x="5029200" y="2965399"/>
            <a:ext cx="5760720" cy="77724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chemeClr val="accent4"/>
            </a:solidFill>
          </a:ln>
        </p:spPr>
        <p:txBody>
          <a:bodyPr wrap="square" lIns="381" tIns="2540" rIns="2540" bIns="381" rtlCol="0" anchor="ctr">
            <a:no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Support: </a:t>
            </a: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Please submit any payment questions via the Flex mobile app. Here's some FAQs that might help: [link]</a:t>
            </a:r>
            <a:endParaRPr lang="en-US" sz="1400" dirty="0"/>
          </a:p>
        </p:txBody>
      </p:sp>
      <p:sp>
        <p:nvSpPr>
          <p:cNvPr id="12" name="Msg3"/>
          <p:cNvSpPr txBox="1"/>
          <p:nvPr/>
        </p:nvSpPr>
        <p:spPr>
          <a:xfrm>
            <a:off x="5852160" y="3781958"/>
            <a:ext cx="5760720" cy="932688"/>
          </a:xfrm>
          <a:prstGeom prst="roundRect">
            <a:avLst>
              <a:gd name="adj" fmla="val 10638"/>
            </a:avLst>
          </a:prstGeom>
          <a:solidFill>
            <a:schemeClr val="tx1"/>
          </a:solidFill>
          <a:ln w="12700">
            <a:solidFill>
              <a:schemeClr val="tx1"/>
            </a:solidFill>
          </a:ln>
        </p:spPr>
        <p:txBody>
          <a:bodyPr wrap="square" lIns="381" tIns="2540" rIns="2540" bIns="381" rtlCol="0" anchor="ctr">
            <a:no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Customer: </a:t>
            </a:r>
            <a:r>
              <a:rPr lang="en-US" sz="15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 with the generic responses. I submitted via the app but i am only getting prewritten respones back. I need a human to help me !!!</a:t>
            </a:r>
            <a:endParaRPr lang="en-US" sz="1400" dirty="0"/>
          </a:p>
        </p:txBody>
      </p:sp>
      <p:sp>
        <p:nvSpPr>
          <p:cNvPr id="13" name="Msg4"/>
          <p:cNvSpPr txBox="1"/>
          <p:nvPr/>
        </p:nvSpPr>
        <p:spPr>
          <a:xfrm>
            <a:off x="5029200" y="4744638"/>
            <a:ext cx="5760720" cy="612648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chemeClr val="accent4"/>
            </a:solidFill>
          </a:ln>
        </p:spPr>
        <p:txBody>
          <a:bodyPr wrap="square" lIns="381" tIns="2540" rIns="2540" bIns="381" rtlCol="0" anchor="ctr">
            <a:no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Support: </a:t>
            </a: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We'd like to look into this for you. Please send us your details here: [link]</a:t>
            </a:r>
            <a:endParaRPr lang="en-US" sz="1400" dirty="0"/>
          </a:p>
        </p:txBody>
      </p:sp>
      <p:sp>
        <p:nvSpPr>
          <p:cNvPr id="14" name="Msg5"/>
          <p:cNvSpPr txBox="1"/>
          <p:nvPr/>
        </p:nvSpPr>
        <p:spPr>
          <a:xfrm>
            <a:off x="5852160" y="5406481"/>
            <a:ext cx="5760720" cy="777240"/>
          </a:xfrm>
          <a:prstGeom prst="roundRect">
            <a:avLst>
              <a:gd name="adj" fmla="val 14286"/>
            </a:avLst>
          </a:prstGeom>
          <a:solidFill>
            <a:schemeClr val="tx1"/>
          </a:solidFill>
          <a:ln w="12700">
            <a:solidFill>
              <a:schemeClr val="tx1"/>
            </a:solidFill>
          </a:ln>
        </p:spPr>
        <p:txBody>
          <a:bodyPr wrap="square" lIns="381" tIns="2540" rIns="2540" bIns="381" rtlCol="0" anchor="ctr">
            <a:no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Customer: </a:t>
            </a:r>
            <a:r>
              <a:rPr lang="en-US" sz="15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you have a manger Call me ? This is ridiculous. You guys owe me money that I worked for. Do I have to file a lawsuit?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chemeClr val="tx1"/>
                </a:solidFill>
              </a:rPr>
              <a:t>The Dataset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2011680" y="146304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Support on Twitter (TWCS, Kaggle): 2,811,774 tweets from 108 brands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24028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Brand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2011680" y="224028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AmazonHelp, so every annotator sees the same kind of problems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01752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 span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2011680" y="301752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Mostly 2017-10-03 to 2017-12-03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79476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Instance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2011680" y="379476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customer-support conversation, written as [customer] / [agent] turns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457200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Language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2011680" y="457200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 kept; Spanish translated to English; other languages dropped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534924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License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2011680" y="534924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 BY-NC-SA 4.0 (non-commercial, academic use)</a:t>
            </a:r>
            <a:endParaRPr lang="en-US" sz="1500" dirty="0"/>
          </a:p>
        </p:txBody>
      </p:sp>
      <p:sp>
        <p:nvSpPr>
          <p:cNvPr id="15" name="Stat 1"/>
          <p:cNvSpPr/>
          <p:nvPr/>
        </p:nvSpPr>
        <p:spPr>
          <a:xfrm>
            <a:off x="6858000" y="1508760"/>
            <a:ext cx="2331720" cy="21031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7040880" y="1783080"/>
            <a:ext cx="1965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4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2.8M</a:t>
            </a:r>
            <a:endParaRPr lang="en-US" sz="4000" dirty="0"/>
          </a:p>
        </p:txBody>
      </p:sp>
      <p:sp>
        <p:nvSpPr>
          <p:cNvPr id="17" name="Text 15"/>
          <p:cNvSpPr txBox="1"/>
          <p:nvPr/>
        </p:nvSpPr>
        <p:spPr>
          <a:xfrm>
            <a:off x="7040880" y="274320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tweets</a:t>
            </a:r>
            <a:endParaRPr lang="en-US" sz="1400" dirty="0"/>
          </a:p>
        </p:txBody>
      </p:sp>
      <p:sp>
        <p:nvSpPr>
          <p:cNvPr id="18" name="Stat 2"/>
          <p:cNvSpPr/>
          <p:nvPr/>
        </p:nvSpPr>
        <p:spPr>
          <a:xfrm>
            <a:off x="9418320" y="1508760"/>
            <a:ext cx="2331720" cy="210312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9601200" y="1783080"/>
            <a:ext cx="1965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25,421</a:t>
            </a:r>
            <a:endParaRPr lang="en-US" sz="4000" dirty="0"/>
          </a:p>
        </p:txBody>
      </p:sp>
      <p:sp>
        <p:nvSpPr>
          <p:cNvPr id="20" name="Text 18"/>
          <p:cNvSpPr txBox="1"/>
          <p:nvPr/>
        </p:nvSpPr>
        <p:spPr>
          <a:xfrm>
            <a:off x="9601200" y="274320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conversations</a:t>
            </a:r>
            <a:endParaRPr lang="en-US" sz="1400" dirty="0"/>
          </a:p>
        </p:txBody>
      </p:sp>
      <p:sp>
        <p:nvSpPr>
          <p:cNvPr id="21" name="Stat 3"/>
          <p:cNvSpPr/>
          <p:nvPr/>
        </p:nvSpPr>
        <p:spPr>
          <a:xfrm>
            <a:off x="6858000" y="3840480"/>
            <a:ext cx="2331720" cy="21031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7040880" y="4114800"/>
            <a:ext cx="1965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4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6.7</a:t>
            </a:r>
            <a:endParaRPr lang="en-US" sz="4000" dirty="0"/>
          </a:p>
        </p:txBody>
      </p:sp>
      <p:sp>
        <p:nvSpPr>
          <p:cNvPr id="23" name="Text 21"/>
          <p:cNvSpPr txBox="1"/>
          <p:nvPr/>
        </p:nvSpPr>
        <p:spPr>
          <a:xfrm>
            <a:off x="7040880" y="507492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turns per conversation</a:t>
            </a:r>
            <a:endParaRPr lang="en-US" sz="1400" dirty="0"/>
          </a:p>
        </p:txBody>
      </p:sp>
      <p:sp>
        <p:nvSpPr>
          <p:cNvPr id="24" name="Stat 4"/>
          <p:cNvSpPr/>
          <p:nvPr/>
        </p:nvSpPr>
        <p:spPr>
          <a:xfrm>
            <a:off x="9418320" y="3840480"/>
            <a:ext cx="2331720" cy="21031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 txBox="1"/>
          <p:nvPr/>
        </p:nvSpPr>
        <p:spPr>
          <a:xfrm>
            <a:off x="9601200" y="4114800"/>
            <a:ext cx="1965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4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30-45 s</a:t>
            </a:r>
            <a:endParaRPr lang="en-US" sz="4000" dirty="0"/>
          </a:p>
        </p:txBody>
      </p:sp>
      <p:sp>
        <p:nvSpPr>
          <p:cNvPr id="26" name="Text 24"/>
          <p:cNvSpPr txBox="1"/>
          <p:nvPr/>
        </p:nvSpPr>
        <p:spPr>
          <a:xfrm>
            <a:off x="9601200" y="507492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time to label one item</a:t>
            </a:r>
            <a:endParaRPr lang="en-US" sz="14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chemeClr val="tx1"/>
                </a:solidFill>
              </a:rPr>
              <a:t>From Raw Tweets to Final Data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threads  &gt;  Sequence turns  &gt;  English plus translated Spanish  &gt;  Multi-turn only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83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AmazonHelp conversations after each step</a:t>
            </a:r>
            <a:endParaRPr lang="en-US" sz="18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548640" y="2194560"/>
          <a:ext cx="548640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6400800" y="178308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Conversations by number of turns</a:t>
            </a:r>
            <a:endParaRPr lang="en-US" sz="1800" dirty="0"/>
          </a:p>
        </p:txBody>
      </p:sp>
      <p:graphicFrame>
        <p:nvGraphicFramePr>
          <p:cNvPr id="7" name="Chart 1"/>
          <p:cNvGraphicFramePr/>
          <p:nvPr/>
        </p:nvGraphicFramePr>
        <p:xfrm>
          <a:off x="6400800" y="2194560"/>
          <a:ext cx="521208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chemeClr val="tx1"/>
                </a:solidFill>
              </a:rPr>
              <a:t>Annotation Guidelines and Setup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Guidelines for annotators</a:t>
            </a:r>
            <a:endParaRPr lang="en-US" sz="2000" dirty="0"/>
          </a:p>
        </p:txBody>
      </p:sp>
      <p:sp>
        <p:nvSpPr>
          <p:cNvPr id="4" name="Rule number 1"/>
          <p:cNvSpPr/>
          <p:nvPr/>
        </p:nvSpPr>
        <p:spPr>
          <a:xfrm>
            <a:off x="548640" y="1920240"/>
            <a:ext cx="457200" cy="457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54864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87452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whole conversation first; agent replies are context.</a:t>
            </a:r>
            <a:endParaRPr lang="en-US" sz="1500" dirty="0"/>
          </a:p>
        </p:txBody>
      </p:sp>
      <p:sp>
        <p:nvSpPr>
          <p:cNvPr id="7" name="Rule number 2"/>
          <p:cNvSpPr/>
          <p:nvPr/>
        </p:nvSpPr>
        <p:spPr>
          <a:xfrm>
            <a:off x="548640" y="2743200"/>
            <a:ext cx="457200" cy="457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548640" y="2743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269748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 the customer's words only, not the agent or the outcome.</a:t>
            </a:r>
            <a:endParaRPr lang="en-US" sz="1500" dirty="0"/>
          </a:p>
        </p:txBody>
      </p:sp>
      <p:sp>
        <p:nvSpPr>
          <p:cNvPr id="10" name="Rule number 3"/>
          <p:cNvSpPr/>
          <p:nvPr/>
        </p:nvSpPr>
        <p:spPr>
          <a:xfrm>
            <a:off x="548640" y="3566160"/>
            <a:ext cx="457200" cy="457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548640" y="3566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188720" y="352044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the customer's tone across the whole conversation.</a:t>
            </a:r>
            <a:endParaRPr lang="en-US" sz="1500" dirty="0"/>
          </a:p>
        </p:txBody>
      </p:sp>
      <p:sp>
        <p:nvSpPr>
          <p:cNvPr id="13" name="Rule number 4"/>
          <p:cNvSpPr/>
          <p:nvPr/>
        </p:nvSpPr>
        <p:spPr>
          <a:xfrm>
            <a:off x="548640" y="4389120"/>
            <a:ext cx="457200" cy="457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548640" y="4389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434340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tones mix, use this order: Escalatory, Frustrated, Help-seeking, Appreciative, Neutral.</a:t>
            </a:r>
            <a:endParaRPr lang="en-US" sz="1500" dirty="0"/>
          </a:p>
        </p:txBody>
      </p:sp>
      <p:sp>
        <p:nvSpPr>
          <p:cNvPr id="16" name="Rule number 5"/>
          <p:cNvSpPr/>
          <p:nvPr/>
        </p:nvSpPr>
        <p:spPr>
          <a:xfrm>
            <a:off x="548640" y="5212080"/>
            <a:ext cx="457200" cy="457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548640" y="5212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516636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secondary label for difficult cases.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0" y="137160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Interface and agreement design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0" y="182880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annotators use Potato locally. Each receives 100 required items and a second, optional batch of 100.</a:t>
            </a:r>
            <a:endParaRPr lang="en-US" sz="15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2560320"/>
          <a:ext cx="5212080" cy="228600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Items each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Labeled by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annotator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annotators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Triple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annotators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Unique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annotator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2" name="Text 19"/>
          <p:cNvSpPr txBox="1"/>
          <p:nvPr/>
        </p:nvSpPr>
        <p:spPr>
          <a:xfrm>
            <a:off x="6400800" y="5029200"/>
            <a:ext cx="5212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annotator, per batch: 20 + 10 + 5 + 65 = 100 items.
Distinct conversations: 20 + 30 + 10 + 390 = 450 per round. Up to 900 across both rounds.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chemeClr val="bg1"/>
                </a:solidFill>
              </a:rPr>
              <a:t>Live Demo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Annotation interface (Potato)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011680"/>
            <a:ext cx="38404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conversation at a time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primary tone label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secondary label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 automatically; structured output file</a:t>
            </a:r>
            <a:endParaRPr lang="en-US" sz="1800" dirty="0"/>
          </a:p>
        </p:txBody>
      </p:sp>
      <p:sp>
        <p:nvSpPr>
          <p:cNvPr id="5" name="Screenshot placeholder"/>
          <p:cNvSpPr/>
          <p:nvPr/>
        </p:nvSpPr>
        <p:spPr>
          <a:xfrm>
            <a:off x="4754880" y="629920"/>
            <a:ext cx="6858000" cy="5974080"/>
          </a:xfrm>
          <a:prstGeom prst="rect">
            <a:avLst/>
          </a:prstGeom>
          <a:solidFill>
            <a:schemeClr val="tx2"/>
          </a:solidFill>
          <a:ln w="19050">
            <a:solidFill>
              <a:schemeClr val="accent3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ECA8091-776C-2AAF-FC4F-3497B61A4D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1322" y="808439"/>
            <a:ext cx="5425116" cy="561704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ConvoSense Mono">
  <a:themeElements>
    <a:clrScheme name="ConvoSense Mono">
      <a:dk1>
        <a:srgbClr val="000000"/>
      </a:dk1>
      <a:lt1>
        <a:srgbClr val="FFFFFF"/>
      </a:lt1>
      <a:dk2>
        <a:srgbClr val="333333"/>
      </a:dk2>
      <a:lt2>
        <a:srgbClr val="F2F2F2"/>
      </a:lt2>
      <a:accent1>
        <a:srgbClr val="000000"/>
      </a:accent1>
      <a:accent2>
        <a:srgbClr val="555555"/>
      </a:accent2>
      <a:accent3>
        <a:srgbClr val="888888"/>
      </a:accent3>
      <a:accent4>
        <a:srgbClr val="BBBBBB"/>
      </a:accent4>
      <a:accent5>
        <a:srgbClr val="DDDDDD"/>
      </a:accent5>
      <a:accent6>
        <a:srgbClr val="222222"/>
      </a:accent6>
      <a:hlink>
        <a:srgbClr val="000000"/>
      </a:hlink>
      <a:folHlink>
        <a:srgbClr val="555555"/>
      </a:folHlink>
    </a:clrScheme>
    <a:fontScheme name="ConvoSense Mono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1888</Words>
  <Application>Microsoft Macintosh PowerPoint</Application>
  <PresentationFormat>Widescreen</PresentationFormat>
  <Paragraphs>207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ConvoSense Mono</vt:lpstr>
      <vt:lpstr>Customer Service Message Tone Classification</vt:lpstr>
      <vt:lpstr>Why It Matters</vt:lpstr>
      <vt:lpstr>The Task</vt:lpstr>
      <vt:lpstr>1. Appreciative or positive</vt:lpstr>
      <vt:lpstr>2. Neutral or informational</vt:lpstr>
      <vt:lpstr>3. Help-seeking or asking a question</vt:lpstr>
      <vt:lpstr>4. Frustrated or complaining</vt:lpstr>
      <vt:lpstr>5. Escalatory or requesting immediate resolution</vt:lpstr>
      <vt:lpstr>The Dataset</vt:lpstr>
      <vt:lpstr>From Raw Tweets to Final Data</vt:lpstr>
      <vt:lpstr>Annotation Guidelines and Setup</vt:lpstr>
      <vt:lpstr>Live Demo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Service Message Tone Classification</dc:title>
  <dc:subject>PptxGenJS Presentation</dc:subject>
  <dc:creator>Venkat, Vishnu, Roshkrishna</dc:creator>
  <cp:lastModifiedBy>Repaka, Venkat</cp:lastModifiedBy>
  <cp:revision>3</cp:revision>
  <dcterms:created xsi:type="dcterms:W3CDTF">2026-10-05T17:21:41Z</dcterms:created>
  <dcterms:modified xsi:type="dcterms:W3CDTF">2026-10-05T22:27:23Z</dcterms:modified>
</cp:coreProperties>
</file>